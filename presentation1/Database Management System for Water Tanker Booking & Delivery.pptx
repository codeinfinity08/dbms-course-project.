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ca Two Heavy" charset="1" panose="00000A00000000000000"/>
      <p:regular r:id="rId14"/>
    </p:embeddedFont>
    <p:embeddedFont>
      <p:font typeface="TT Chocolates" charset="1" panose="02000503020000020003"/>
      <p:regular r:id="rId15"/>
    </p:embeddedFont>
    <p:embeddedFont>
      <p:font typeface="Roca Two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6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Relationship Id="rId8" Target="../media/image6.jpe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Relationship Id="rId8" Target="../media/image6.jpe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png" Type="http://schemas.openxmlformats.org/officeDocument/2006/relationships/image"/><Relationship Id="rId6" Target="../media/image6.jpe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43460" y="2607746"/>
            <a:ext cx="9895170" cy="665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3"/>
              </a:lnSpc>
            </a:pPr>
            <a:r>
              <a:rPr lang="en-US" sz="10504" spc="-79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Database Management System for Wa</a:t>
            </a:r>
            <a:r>
              <a:rPr lang="en-US" b="true" sz="10504" spc="-798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ter Tanker Booking &amp; Delivery</a:t>
            </a:r>
          </a:p>
          <a:p>
            <a:pPr algn="l">
              <a:lnSpc>
                <a:spcPts val="861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148710" y="5541274"/>
            <a:ext cx="1393548" cy="1440654"/>
          </a:xfrm>
          <a:custGeom>
            <a:avLst/>
            <a:gdLst/>
            <a:ahLst/>
            <a:cxnLst/>
            <a:rect r="r" b="b" t="t" l="l"/>
            <a:pathLst>
              <a:path h="1440654" w="1393548">
                <a:moveTo>
                  <a:pt x="0" y="0"/>
                </a:moveTo>
                <a:lnTo>
                  <a:pt x="1393548" y="0"/>
                </a:lnTo>
                <a:lnTo>
                  <a:pt x="1393548" y="1440654"/>
                </a:lnTo>
                <a:lnTo>
                  <a:pt x="0" y="1440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43460" y="8128717"/>
            <a:ext cx="12344400" cy="480060"/>
            <a:chOff x="0" y="0"/>
            <a:chExt cx="164592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6459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Presented by: Chandrahas   |   Roll No: 25WU0102284  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688126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689759" y="8916638"/>
            <a:ext cx="660981" cy="683324"/>
          </a:xfrm>
          <a:custGeom>
            <a:avLst/>
            <a:gdLst/>
            <a:ahLst/>
            <a:cxnLst/>
            <a:rect r="r" b="b" t="t" l="l"/>
            <a:pathLst>
              <a:path h="683324" w="660981">
                <a:moveTo>
                  <a:pt x="0" y="0"/>
                </a:moveTo>
                <a:lnTo>
                  <a:pt x="660981" y="0"/>
                </a:lnTo>
                <a:lnTo>
                  <a:pt x="660981" y="683324"/>
                </a:lnTo>
                <a:lnTo>
                  <a:pt x="0" y="683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08044" y="1304925"/>
            <a:ext cx="14495130" cy="160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9"/>
              </a:lnSpc>
            </a:pPr>
            <a:r>
              <a:rPr lang="en-US" sz="7401" spc="-562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The Cha</a:t>
            </a:r>
            <a:r>
              <a:rPr lang="en-US" b="true" sz="7401" spc="-56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os of Manual Water Delivery</a:t>
            </a:r>
          </a:p>
          <a:p>
            <a:pPr algn="l">
              <a:lnSpc>
                <a:spcPts val="606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39794" y="2331720"/>
            <a:ext cx="8023860" cy="2811780"/>
            <a:chOff x="0" y="0"/>
            <a:chExt cx="10698480" cy="374904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0698480" cy="3749040"/>
              <a:chOff x="0" y="0"/>
              <a:chExt cx="10698480" cy="374904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698480" cy="3749040"/>
              </a:xfrm>
              <a:custGeom>
                <a:avLst/>
                <a:gdLst/>
                <a:ahLst/>
                <a:cxnLst/>
                <a:rect r="r" b="b" t="t" l="l"/>
                <a:pathLst>
                  <a:path h="3749040" w="10698480">
                    <a:moveTo>
                      <a:pt x="0" y="164592"/>
                    </a:moveTo>
                    <a:cubicBezTo>
                      <a:pt x="0" y="73660"/>
                      <a:pt x="73660" y="0"/>
                      <a:pt x="164592" y="0"/>
                    </a:cubicBezTo>
                    <a:lnTo>
                      <a:pt x="10533888" y="0"/>
                    </a:lnTo>
                    <a:cubicBezTo>
                      <a:pt x="10624820" y="0"/>
                      <a:pt x="10698480" y="73660"/>
                      <a:pt x="10698480" y="164592"/>
                    </a:cubicBezTo>
                    <a:lnTo>
                      <a:pt x="10698480" y="3584448"/>
                    </a:lnTo>
                    <a:cubicBezTo>
                      <a:pt x="10698480" y="3675380"/>
                      <a:pt x="10624820" y="3749040"/>
                      <a:pt x="10533888" y="3749040"/>
                    </a:cubicBezTo>
                    <a:lnTo>
                      <a:pt x="164592" y="3749040"/>
                    </a:lnTo>
                    <a:cubicBezTo>
                      <a:pt x="73660" y="3749040"/>
                      <a:pt x="0" y="3675380"/>
                      <a:pt x="0" y="3584448"/>
                    </a:cubicBezTo>
                    <a:close/>
                  </a:path>
                </a:pathLst>
              </a:custGeom>
              <a:solidFill>
                <a:srgbClr val="ECECEC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512064" y="512064"/>
              <a:ext cx="1371600" cy="1371600"/>
              <a:chOff x="0" y="0"/>
              <a:chExt cx="1371600" cy="1371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71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371600">
                    <a:moveTo>
                      <a:pt x="0" y="685800"/>
                    </a:moveTo>
                    <a:cubicBezTo>
                      <a:pt x="0" y="307086"/>
                      <a:pt x="307086" y="0"/>
                      <a:pt x="685800" y="0"/>
                    </a:cubicBezTo>
                    <a:cubicBezTo>
                      <a:pt x="1064514" y="0"/>
                      <a:pt x="1371600" y="307086"/>
                      <a:pt x="1371600" y="685800"/>
                    </a:cubicBezTo>
                    <a:cubicBezTo>
                      <a:pt x="1371600" y="1064514"/>
                      <a:pt x="1064514" y="1371600"/>
                      <a:pt x="685800" y="1371600"/>
                    </a:cubicBezTo>
                    <a:cubicBezTo>
                      <a:pt x="307086" y="1371600"/>
                      <a:pt x="0" y="1064514"/>
                      <a:pt x="0" y="685800"/>
                    </a:cubicBezTo>
                    <a:close/>
                  </a:path>
                </a:pathLst>
              </a:custGeom>
              <a:solidFill>
                <a:srgbClr val="0E1943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868680" y="868680"/>
              <a:ext cx="658368" cy="658368"/>
              <a:chOff x="0" y="0"/>
              <a:chExt cx="658368" cy="658368"/>
            </a:xfrm>
          </p:grpSpPr>
          <p:sp>
            <p:nvSpPr>
              <p:cNvPr name="Freeform 25" id="25" descr="icons/phone_FFFFFF.png"/>
              <p:cNvSpPr/>
              <p:nvPr/>
            </p:nvSpPr>
            <p:spPr>
              <a:xfrm flipH="false" flipV="false" rot="0">
                <a:off x="0" y="0"/>
                <a:ext cx="658368" cy="658368"/>
              </a:xfrm>
              <a:custGeom>
                <a:avLst/>
                <a:gdLst/>
                <a:ahLst/>
                <a:cxnLst/>
                <a:rect r="r" b="b" t="t" l="l"/>
                <a:pathLst>
                  <a:path h="658368" w="658368">
                    <a:moveTo>
                      <a:pt x="0" y="0"/>
                    </a:moveTo>
                    <a:lnTo>
                      <a:pt x="658368" y="0"/>
                    </a:lnTo>
                    <a:lnTo>
                      <a:pt x="658368" y="658368"/>
                    </a:lnTo>
                    <a:lnTo>
                      <a:pt x="0" y="6583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2194560" y="475488"/>
              <a:ext cx="8138160" cy="731520"/>
              <a:chOff x="0" y="0"/>
              <a:chExt cx="8138160" cy="73152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3816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138160">
                    <a:moveTo>
                      <a:pt x="0" y="0"/>
                    </a:moveTo>
                    <a:lnTo>
                      <a:pt x="8138160" y="0"/>
                    </a:lnTo>
                    <a:lnTo>
                      <a:pt x="813816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166771" r="0" b="-166771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"/>
                <a:ext cx="8138160" cy="741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Phone &amp; Paper Bookings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2194560" y="1243584"/>
              <a:ext cx="8138160" cy="2194560"/>
              <a:chOff x="0" y="0"/>
              <a:chExt cx="8138160" cy="219456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38160" cy="2194560"/>
              </a:xfrm>
              <a:custGeom>
                <a:avLst/>
                <a:gdLst/>
                <a:ahLst/>
                <a:cxnLst/>
                <a:rect r="r" b="b" t="t" l="l"/>
                <a:pathLst>
                  <a:path h="2194560" w="8138160">
                    <a:moveTo>
                      <a:pt x="0" y="0"/>
                    </a:moveTo>
                    <a:lnTo>
                      <a:pt x="8138160" y="0"/>
                    </a:lnTo>
                    <a:lnTo>
                      <a:pt x="8138160" y="2194560"/>
                    </a:lnTo>
                    <a:lnTo>
                      <a:pt x="0" y="219456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22257" r="0" b="-22257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8138160" cy="22517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75"/>
                  </a:lnSpc>
                </a:pPr>
                <a:r>
                  <a:rPr lang="en-US" sz="165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Manual intake channels lead to lost orders, transcription errors, and no single source of truth for demand.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9144000" y="2331720"/>
            <a:ext cx="8023860" cy="2811780"/>
            <a:chOff x="0" y="0"/>
            <a:chExt cx="10698480" cy="374904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0698480" cy="3749040"/>
              <a:chOff x="0" y="0"/>
              <a:chExt cx="10698480" cy="374904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0698480" cy="3749040"/>
              </a:xfrm>
              <a:custGeom>
                <a:avLst/>
                <a:gdLst/>
                <a:ahLst/>
                <a:cxnLst/>
                <a:rect r="r" b="b" t="t" l="l"/>
                <a:pathLst>
                  <a:path h="3749040" w="10698480">
                    <a:moveTo>
                      <a:pt x="0" y="164592"/>
                    </a:moveTo>
                    <a:cubicBezTo>
                      <a:pt x="0" y="73660"/>
                      <a:pt x="73660" y="0"/>
                      <a:pt x="164592" y="0"/>
                    </a:cubicBezTo>
                    <a:lnTo>
                      <a:pt x="10533888" y="0"/>
                    </a:lnTo>
                    <a:cubicBezTo>
                      <a:pt x="10624820" y="0"/>
                      <a:pt x="10698480" y="73660"/>
                      <a:pt x="10698480" y="164592"/>
                    </a:cubicBezTo>
                    <a:lnTo>
                      <a:pt x="10698480" y="3584448"/>
                    </a:lnTo>
                    <a:cubicBezTo>
                      <a:pt x="10698480" y="3675380"/>
                      <a:pt x="10624820" y="3749040"/>
                      <a:pt x="10533888" y="3749040"/>
                    </a:cubicBezTo>
                    <a:lnTo>
                      <a:pt x="164592" y="3749040"/>
                    </a:lnTo>
                    <a:cubicBezTo>
                      <a:pt x="73660" y="3749040"/>
                      <a:pt x="0" y="3675380"/>
                      <a:pt x="0" y="3584448"/>
                    </a:cubicBezTo>
                    <a:close/>
                  </a:path>
                </a:pathLst>
              </a:custGeom>
              <a:solidFill>
                <a:srgbClr val="ECECEC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512064" y="512064"/>
              <a:ext cx="1371600" cy="1371600"/>
              <a:chOff x="0" y="0"/>
              <a:chExt cx="1371600" cy="13716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371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371600">
                    <a:moveTo>
                      <a:pt x="0" y="685800"/>
                    </a:moveTo>
                    <a:cubicBezTo>
                      <a:pt x="0" y="307086"/>
                      <a:pt x="307086" y="0"/>
                      <a:pt x="685800" y="0"/>
                    </a:cubicBezTo>
                    <a:cubicBezTo>
                      <a:pt x="1064514" y="0"/>
                      <a:pt x="1371600" y="307086"/>
                      <a:pt x="1371600" y="685800"/>
                    </a:cubicBezTo>
                    <a:cubicBezTo>
                      <a:pt x="1371600" y="1064514"/>
                      <a:pt x="1064514" y="1371600"/>
                      <a:pt x="685800" y="1371600"/>
                    </a:cubicBezTo>
                    <a:cubicBezTo>
                      <a:pt x="307086" y="1371600"/>
                      <a:pt x="0" y="1064514"/>
                      <a:pt x="0" y="685800"/>
                    </a:cubicBezTo>
                    <a:close/>
                  </a:path>
                </a:pathLst>
              </a:custGeom>
              <a:solidFill>
                <a:srgbClr val="0E1943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868680" y="868680"/>
              <a:ext cx="658368" cy="658368"/>
              <a:chOff x="0" y="0"/>
              <a:chExt cx="658368" cy="658368"/>
            </a:xfrm>
          </p:grpSpPr>
          <p:sp>
            <p:nvSpPr>
              <p:cNvPr name="Freeform 38" id="38" descr="icons/boxesStacked_FFFFFF.png"/>
              <p:cNvSpPr/>
              <p:nvPr/>
            </p:nvSpPr>
            <p:spPr>
              <a:xfrm flipH="false" flipV="false" rot="0">
                <a:off x="0" y="0"/>
                <a:ext cx="658368" cy="658368"/>
              </a:xfrm>
              <a:custGeom>
                <a:avLst/>
                <a:gdLst/>
                <a:ahLst/>
                <a:cxnLst/>
                <a:rect r="r" b="b" t="t" l="l"/>
                <a:pathLst>
                  <a:path h="658368" w="658368">
                    <a:moveTo>
                      <a:pt x="0" y="0"/>
                    </a:moveTo>
                    <a:lnTo>
                      <a:pt x="658368" y="0"/>
                    </a:lnTo>
                    <a:lnTo>
                      <a:pt x="658368" y="658368"/>
                    </a:lnTo>
                    <a:lnTo>
                      <a:pt x="0" y="6583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2194560" y="475488"/>
              <a:ext cx="8138160" cy="731520"/>
              <a:chOff x="0" y="0"/>
              <a:chExt cx="8138160" cy="73152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3816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138160">
                    <a:moveTo>
                      <a:pt x="0" y="0"/>
                    </a:moveTo>
                    <a:lnTo>
                      <a:pt x="8138160" y="0"/>
                    </a:lnTo>
                    <a:lnTo>
                      <a:pt x="813816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166771" r="0" b="-166771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8138160" cy="741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No Inventory Tracking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194560" y="1243584"/>
              <a:ext cx="8138160" cy="2194560"/>
              <a:chOff x="0" y="0"/>
              <a:chExt cx="8138160" cy="219456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38160" cy="2194560"/>
              </a:xfrm>
              <a:custGeom>
                <a:avLst/>
                <a:gdLst/>
                <a:ahLst/>
                <a:cxnLst/>
                <a:rect r="r" b="b" t="t" l="l"/>
                <a:pathLst>
                  <a:path h="2194560" w="8138160">
                    <a:moveTo>
                      <a:pt x="0" y="0"/>
                    </a:moveTo>
                    <a:lnTo>
                      <a:pt x="8138160" y="0"/>
                    </a:lnTo>
                    <a:lnTo>
                      <a:pt x="8138160" y="2194560"/>
                    </a:lnTo>
                    <a:lnTo>
                      <a:pt x="0" y="219456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22257" r="0" b="-22257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57150"/>
                <a:ext cx="8138160" cy="22517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75"/>
                  </a:lnSpc>
                </a:pPr>
                <a:r>
                  <a:rPr lang="en-US" sz="165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Tanker availability isn't tracked centrally, resulting in double-booked vehicles and poor demand forecasting.</a:t>
                </a: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822960" y="5760720"/>
            <a:ext cx="8023860" cy="2811780"/>
            <a:chOff x="0" y="0"/>
            <a:chExt cx="10698480" cy="374904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10698480" cy="3749040"/>
              <a:chOff x="0" y="0"/>
              <a:chExt cx="10698480" cy="374904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698480" cy="3749040"/>
              </a:xfrm>
              <a:custGeom>
                <a:avLst/>
                <a:gdLst/>
                <a:ahLst/>
                <a:cxnLst/>
                <a:rect r="r" b="b" t="t" l="l"/>
                <a:pathLst>
                  <a:path h="3749040" w="10698480">
                    <a:moveTo>
                      <a:pt x="0" y="164592"/>
                    </a:moveTo>
                    <a:cubicBezTo>
                      <a:pt x="0" y="73660"/>
                      <a:pt x="73660" y="0"/>
                      <a:pt x="164592" y="0"/>
                    </a:cubicBezTo>
                    <a:lnTo>
                      <a:pt x="10533888" y="0"/>
                    </a:lnTo>
                    <a:cubicBezTo>
                      <a:pt x="10624820" y="0"/>
                      <a:pt x="10698480" y="73660"/>
                      <a:pt x="10698480" y="164592"/>
                    </a:cubicBezTo>
                    <a:lnTo>
                      <a:pt x="10698480" y="3584448"/>
                    </a:lnTo>
                    <a:cubicBezTo>
                      <a:pt x="10698480" y="3675380"/>
                      <a:pt x="10624820" y="3749040"/>
                      <a:pt x="10533888" y="3749040"/>
                    </a:cubicBezTo>
                    <a:lnTo>
                      <a:pt x="164592" y="3749040"/>
                    </a:lnTo>
                    <a:cubicBezTo>
                      <a:pt x="73660" y="3749040"/>
                      <a:pt x="0" y="3675380"/>
                      <a:pt x="0" y="3584448"/>
                    </a:cubicBezTo>
                    <a:close/>
                  </a:path>
                </a:pathLst>
              </a:custGeom>
              <a:solidFill>
                <a:srgbClr val="ECECEC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512064" y="512064"/>
              <a:ext cx="1371600" cy="1371600"/>
              <a:chOff x="0" y="0"/>
              <a:chExt cx="1371600" cy="13716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371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371600">
                    <a:moveTo>
                      <a:pt x="0" y="685800"/>
                    </a:moveTo>
                    <a:cubicBezTo>
                      <a:pt x="0" y="307086"/>
                      <a:pt x="307086" y="0"/>
                      <a:pt x="685800" y="0"/>
                    </a:cubicBezTo>
                    <a:cubicBezTo>
                      <a:pt x="1064514" y="0"/>
                      <a:pt x="1371600" y="307086"/>
                      <a:pt x="1371600" y="685800"/>
                    </a:cubicBezTo>
                    <a:cubicBezTo>
                      <a:pt x="1371600" y="1064514"/>
                      <a:pt x="1064514" y="1371600"/>
                      <a:pt x="685800" y="1371600"/>
                    </a:cubicBezTo>
                    <a:cubicBezTo>
                      <a:pt x="307086" y="1371600"/>
                      <a:pt x="0" y="1064514"/>
                      <a:pt x="0" y="685800"/>
                    </a:cubicBezTo>
                    <a:close/>
                  </a:path>
                </a:pathLst>
              </a:custGeom>
              <a:solidFill>
                <a:srgbClr val="0E1943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868680" y="868680"/>
              <a:ext cx="658368" cy="658368"/>
              <a:chOff x="0" y="0"/>
              <a:chExt cx="658368" cy="658368"/>
            </a:xfrm>
          </p:grpSpPr>
          <p:sp>
            <p:nvSpPr>
              <p:cNvPr name="Freeform 51" id="51" descr="icons/route_FFFFFF.png"/>
              <p:cNvSpPr/>
              <p:nvPr/>
            </p:nvSpPr>
            <p:spPr>
              <a:xfrm flipH="false" flipV="false" rot="0">
                <a:off x="0" y="0"/>
                <a:ext cx="658368" cy="658368"/>
              </a:xfrm>
              <a:custGeom>
                <a:avLst/>
                <a:gdLst/>
                <a:ahLst/>
                <a:cxnLst/>
                <a:rect r="r" b="b" t="t" l="l"/>
                <a:pathLst>
                  <a:path h="658368" w="658368">
                    <a:moveTo>
                      <a:pt x="0" y="0"/>
                    </a:moveTo>
                    <a:lnTo>
                      <a:pt x="658368" y="0"/>
                    </a:lnTo>
                    <a:lnTo>
                      <a:pt x="658368" y="658368"/>
                    </a:lnTo>
                    <a:lnTo>
                      <a:pt x="0" y="6583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2194560" y="475488"/>
              <a:ext cx="8138160" cy="731520"/>
              <a:chOff x="0" y="0"/>
              <a:chExt cx="8138160" cy="73152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3816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138160">
                    <a:moveTo>
                      <a:pt x="0" y="0"/>
                    </a:moveTo>
                    <a:lnTo>
                      <a:pt x="8138160" y="0"/>
                    </a:lnTo>
                    <a:lnTo>
                      <a:pt x="813816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166771" r="0" b="-166771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9525"/>
                <a:ext cx="8138160" cy="741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Blind Dispatching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2194560" y="1243584"/>
              <a:ext cx="8138160" cy="2194560"/>
              <a:chOff x="0" y="0"/>
              <a:chExt cx="8138160" cy="219456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38160" cy="2194560"/>
              </a:xfrm>
              <a:custGeom>
                <a:avLst/>
                <a:gdLst/>
                <a:ahLst/>
                <a:cxnLst/>
                <a:rect r="r" b="b" t="t" l="l"/>
                <a:pathLst>
                  <a:path h="2194560" w="8138160">
                    <a:moveTo>
                      <a:pt x="0" y="0"/>
                    </a:moveTo>
                    <a:lnTo>
                      <a:pt x="8138160" y="0"/>
                    </a:lnTo>
                    <a:lnTo>
                      <a:pt x="8138160" y="2194560"/>
                    </a:lnTo>
                    <a:lnTo>
                      <a:pt x="0" y="219456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22257" r="0" b="-22257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57150"/>
                <a:ext cx="8138160" cy="22517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75"/>
                  </a:lnSpc>
                </a:pPr>
                <a:r>
                  <a:rPr lang="en-US" sz="165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Without route or location data, dispatch is inefficient and customers get no reliable ETA.</a:t>
                </a: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9326880" y="5760720"/>
            <a:ext cx="8023860" cy="2811780"/>
            <a:chOff x="0" y="0"/>
            <a:chExt cx="10698480" cy="3749040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10698480" cy="3749040"/>
              <a:chOff x="0" y="0"/>
              <a:chExt cx="10698480" cy="374904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0698480" cy="3749040"/>
              </a:xfrm>
              <a:custGeom>
                <a:avLst/>
                <a:gdLst/>
                <a:ahLst/>
                <a:cxnLst/>
                <a:rect r="r" b="b" t="t" l="l"/>
                <a:pathLst>
                  <a:path h="3749040" w="10698480">
                    <a:moveTo>
                      <a:pt x="0" y="164592"/>
                    </a:moveTo>
                    <a:cubicBezTo>
                      <a:pt x="0" y="73660"/>
                      <a:pt x="73660" y="0"/>
                      <a:pt x="164592" y="0"/>
                    </a:cubicBezTo>
                    <a:lnTo>
                      <a:pt x="10533888" y="0"/>
                    </a:lnTo>
                    <a:cubicBezTo>
                      <a:pt x="10624820" y="0"/>
                      <a:pt x="10698480" y="73660"/>
                      <a:pt x="10698480" y="164592"/>
                    </a:cubicBezTo>
                    <a:lnTo>
                      <a:pt x="10698480" y="3584448"/>
                    </a:lnTo>
                    <a:cubicBezTo>
                      <a:pt x="10698480" y="3675380"/>
                      <a:pt x="10624820" y="3749040"/>
                      <a:pt x="10533888" y="3749040"/>
                    </a:cubicBezTo>
                    <a:lnTo>
                      <a:pt x="164592" y="3749040"/>
                    </a:lnTo>
                    <a:cubicBezTo>
                      <a:pt x="73660" y="3749040"/>
                      <a:pt x="0" y="3675380"/>
                      <a:pt x="0" y="3584448"/>
                    </a:cubicBezTo>
                    <a:close/>
                  </a:path>
                </a:pathLst>
              </a:custGeom>
              <a:solidFill>
                <a:srgbClr val="ECECEC"/>
              </a:solid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512064" y="512064"/>
              <a:ext cx="1371600" cy="1371600"/>
              <a:chOff x="0" y="0"/>
              <a:chExt cx="1371600" cy="13716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371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371600">
                    <a:moveTo>
                      <a:pt x="0" y="685800"/>
                    </a:moveTo>
                    <a:cubicBezTo>
                      <a:pt x="0" y="307086"/>
                      <a:pt x="307086" y="0"/>
                      <a:pt x="685800" y="0"/>
                    </a:cubicBezTo>
                    <a:cubicBezTo>
                      <a:pt x="1064514" y="0"/>
                      <a:pt x="1371600" y="307086"/>
                      <a:pt x="1371600" y="685800"/>
                    </a:cubicBezTo>
                    <a:cubicBezTo>
                      <a:pt x="1371600" y="1064514"/>
                      <a:pt x="1064514" y="1371600"/>
                      <a:pt x="685800" y="1371600"/>
                    </a:cubicBezTo>
                    <a:cubicBezTo>
                      <a:pt x="307086" y="1371600"/>
                      <a:pt x="0" y="1064514"/>
                      <a:pt x="0" y="685800"/>
                    </a:cubicBezTo>
                    <a:close/>
                  </a:path>
                </a:pathLst>
              </a:custGeom>
              <a:solidFill>
                <a:srgbClr val="0E1943"/>
              </a:solidFill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868680" y="868680"/>
              <a:ext cx="658368" cy="658368"/>
              <a:chOff x="0" y="0"/>
              <a:chExt cx="658368" cy="658368"/>
            </a:xfrm>
          </p:grpSpPr>
          <p:sp>
            <p:nvSpPr>
              <p:cNvPr name="Freeform 64" id="64" descr="icons/moneyBillWave_FFFFFF.png"/>
              <p:cNvSpPr/>
              <p:nvPr/>
            </p:nvSpPr>
            <p:spPr>
              <a:xfrm flipH="false" flipV="false" rot="0">
                <a:off x="0" y="0"/>
                <a:ext cx="658368" cy="658368"/>
              </a:xfrm>
              <a:custGeom>
                <a:avLst/>
                <a:gdLst/>
                <a:ahLst/>
                <a:cxnLst/>
                <a:rect r="r" b="b" t="t" l="l"/>
                <a:pathLst>
                  <a:path h="658368" w="658368">
                    <a:moveTo>
                      <a:pt x="0" y="0"/>
                    </a:moveTo>
                    <a:lnTo>
                      <a:pt x="658368" y="0"/>
                    </a:lnTo>
                    <a:lnTo>
                      <a:pt x="658368" y="658368"/>
                    </a:lnTo>
                    <a:lnTo>
                      <a:pt x="0" y="6583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0" r="0" b="0"/>
                </a:stretch>
              </a:blipFill>
            </p:spPr>
          </p:sp>
        </p:grpSp>
        <p:grpSp>
          <p:nvGrpSpPr>
            <p:cNvPr name="Group 65" id="65"/>
            <p:cNvGrpSpPr/>
            <p:nvPr/>
          </p:nvGrpSpPr>
          <p:grpSpPr>
            <a:xfrm rot="0">
              <a:off x="2194560" y="475488"/>
              <a:ext cx="8138160" cy="731520"/>
              <a:chOff x="0" y="0"/>
              <a:chExt cx="8138160" cy="73152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813816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138160">
                    <a:moveTo>
                      <a:pt x="0" y="0"/>
                    </a:moveTo>
                    <a:lnTo>
                      <a:pt x="8138160" y="0"/>
                    </a:lnTo>
                    <a:lnTo>
                      <a:pt x="813816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166771" r="0" b="-166771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9525"/>
                <a:ext cx="8138160" cy="741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Cash-Only Ledgers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2194560" y="1243584"/>
              <a:ext cx="8138160" cy="2194560"/>
              <a:chOff x="0" y="0"/>
              <a:chExt cx="8138160" cy="219456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138160" cy="2194560"/>
              </a:xfrm>
              <a:custGeom>
                <a:avLst/>
                <a:gdLst/>
                <a:ahLst/>
                <a:cxnLst/>
                <a:rect r="r" b="b" t="t" l="l"/>
                <a:pathLst>
                  <a:path h="2194560" w="8138160">
                    <a:moveTo>
                      <a:pt x="0" y="0"/>
                    </a:moveTo>
                    <a:lnTo>
                      <a:pt x="8138160" y="0"/>
                    </a:lnTo>
                    <a:lnTo>
                      <a:pt x="8138160" y="2194560"/>
                    </a:lnTo>
                    <a:lnTo>
                      <a:pt x="0" y="219456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22257" r="0" b="-22257"/>
                </a:stretch>
              </a:blip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57150"/>
                <a:ext cx="8138160" cy="22517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75"/>
                  </a:lnSpc>
                </a:pPr>
                <a:r>
                  <a:rPr lang="en-US" sz="165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Manual, paper-based payment records cause disputes and make financial auditing difficult.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44410" y="1139702"/>
            <a:ext cx="11436828" cy="152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1"/>
              </a:lnSpc>
            </a:pPr>
            <a:r>
              <a:rPr lang="en-US" b="true" sz="7001" spc="-53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A Centralized DBMS Solution</a:t>
            </a:r>
          </a:p>
          <a:p>
            <a:pPr algn="l">
              <a:lnSpc>
                <a:spcPts val="5741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6569834" y="635837"/>
            <a:ext cx="952645" cy="952645"/>
          </a:xfrm>
          <a:custGeom>
            <a:avLst/>
            <a:gdLst/>
            <a:ahLst/>
            <a:cxnLst/>
            <a:rect r="r" b="b" t="t" l="l"/>
            <a:pathLst>
              <a:path h="952645" w="952645">
                <a:moveTo>
                  <a:pt x="952644" y="952645"/>
                </a:moveTo>
                <a:lnTo>
                  <a:pt x="0" y="952645"/>
                </a:lnTo>
                <a:lnTo>
                  <a:pt x="0" y="0"/>
                </a:lnTo>
                <a:lnTo>
                  <a:pt x="952644" y="0"/>
                </a:lnTo>
                <a:lnTo>
                  <a:pt x="952644" y="9526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22960" y="2674620"/>
            <a:ext cx="5280660" cy="5966460"/>
            <a:chOff x="0" y="0"/>
            <a:chExt cx="7040880" cy="7955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0880" cy="7955280"/>
            </a:xfrm>
            <a:custGeom>
              <a:avLst/>
              <a:gdLst/>
              <a:ahLst/>
              <a:cxnLst/>
              <a:rect r="r" b="b" t="t" l="l"/>
              <a:pathLst>
                <a:path h="795528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7772400"/>
                  </a:lnTo>
                  <a:cubicBezTo>
                    <a:pt x="7040880" y="7873365"/>
                    <a:pt x="6958965" y="7955280"/>
                    <a:pt x="685800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811780" y="3154680"/>
            <a:ext cx="1303020" cy="1303020"/>
            <a:chOff x="0" y="0"/>
            <a:chExt cx="1737360" cy="1737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150565" y="3493465"/>
            <a:ext cx="625450" cy="625450"/>
            <a:chOff x="0" y="0"/>
            <a:chExt cx="833933" cy="833933"/>
          </a:xfrm>
        </p:grpSpPr>
        <p:sp>
          <p:nvSpPr>
            <p:cNvPr name="Freeform 21" id="21" descr="icons/boxesStacked_0B7A9E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6" b="-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4800600"/>
            <a:ext cx="4594860" cy="1028700"/>
            <a:chOff x="0" y="0"/>
            <a:chExt cx="612648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26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12648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39"/>
                </a:lnSpc>
              </a:pPr>
              <a:r>
                <a:rPr lang="en-US" sz="2449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Real-time Inventory Management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7008" y="5897880"/>
            <a:ext cx="4512564" cy="2537460"/>
            <a:chOff x="0" y="0"/>
            <a:chExt cx="6016752" cy="3383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16752" cy="3383280"/>
            </a:xfrm>
            <a:custGeom>
              <a:avLst/>
              <a:gdLst/>
              <a:ahLst/>
              <a:cxnLst/>
              <a:rect r="r" b="b" t="t" l="l"/>
              <a:pathLst>
                <a:path h="3383280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2146" t="0" r="-2214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6016752" cy="3440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4"/>
                </a:lnSpc>
              </a:pPr>
              <a:r>
                <a:rPr lang="en-US" sz="1849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Instantly track tanker availability, capacity, and maintenance status across the fleet.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89843" y="2503170"/>
            <a:ext cx="5280660" cy="5966460"/>
            <a:chOff x="0" y="0"/>
            <a:chExt cx="7040880" cy="795528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040880" cy="7955280"/>
              <a:chOff x="0" y="0"/>
              <a:chExt cx="7040880" cy="795528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040880" cy="7955280"/>
              </a:xfrm>
              <a:custGeom>
                <a:avLst/>
                <a:gdLst/>
                <a:ahLst/>
                <a:cxnLst/>
                <a:rect r="r" b="b" t="t" l="l"/>
                <a:pathLst>
                  <a:path h="7955280" w="7040880">
                    <a:moveTo>
                      <a:pt x="0" y="182880"/>
                    </a:moveTo>
                    <a:cubicBezTo>
                      <a:pt x="0" y="81915"/>
                      <a:pt x="81915" y="0"/>
                      <a:pt x="182880" y="0"/>
                    </a:cubicBezTo>
                    <a:lnTo>
                      <a:pt x="6858000" y="0"/>
                    </a:lnTo>
                    <a:cubicBezTo>
                      <a:pt x="6958965" y="0"/>
                      <a:pt x="7040880" y="81915"/>
                      <a:pt x="7040880" y="182880"/>
                    </a:cubicBezTo>
                    <a:lnTo>
                      <a:pt x="7040880" y="7772400"/>
                    </a:lnTo>
                    <a:cubicBezTo>
                      <a:pt x="7040880" y="7873365"/>
                      <a:pt x="6958965" y="7955280"/>
                      <a:pt x="6858000" y="7955280"/>
                    </a:cubicBezTo>
                    <a:lnTo>
                      <a:pt x="182880" y="7955280"/>
                    </a:lnTo>
                    <a:cubicBezTo>
                      <a:pt x="81915" y="7955280"/>
                      <a:pt x="0" y="7873365"/>
                      <a:pt x="0" y="7772400"/>
                    </a:cubicBezTo>
                    <a:close/>
                  </a:path>
                </a:pathLst>
              </a:custGeom>
              <a:solidFill>
                <a:srgbClr val="ECECEC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2651760" y="640080"/>
              <a:ext cx="1737360" cy="1737360"/>
              <a:chOff x="0" y="0"/>
              <a:chExt cx="1737360" cy="173736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737360" cy="1737360"/>
              </a:xfrm>
              <a:custGeom>
                <a:avLst/>
                <a:gdLst/>
                <a:ahLst/>
                <a:cxnLst/>
                <a:rect r="r" b="b" t="t" l="l"/>
                <a:pathLst>
                  <a:path h="1737360" w="1737360">
                    <a:moveTo>
                      <a:pt x="0" y="868680"/>
                    </a:moveTo>
                    <a:cubicBezTo>
                      <a:pt x="0" y="388874"/>
                      <a:pt x="388874" y="0"/>
                      <a:pt x="868680" y="0"/>
                    </a:cubicBezTo>
                    <a:cubicBezTo>
                      <a:pt x="1348486" y="0"/>
                      <a:pt x="1737360" y="388874"/>
                      <a:pt x="1737360" y="868680"/>
                    </a:cubicBezTo>
                    <a:cubicBezTo>
                      <a:pt x="1737360" y="1348486"/>
                      <a:pt x="1348486" y="1737360"/>
                      <a:pt x="868680" y="1737360"/>
                    </a:cubicBezTo>
                    <a:cubicBezTo>
                      <a:pt x="388874" y="1737360"/>
                      <a:pt x="0" y="1348486"/>
                      <a:pt x="0" y="86868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3103474" y="1091794"/>
              <a:ext cx="833933" cy="833933"/>
              <a:chOff x="0" y="0"/>
              <a:chExt cx="833933" cy="833933"/>
            </a:xfrm>
          </p:grpSpPr>
          <p:sp>
            <p:nvSpPr>
              <p:cNvPr name="Freeform 34" id="34" descr="icons/truck_045C7C.png"/>
              <p:cNvSpPr/>
              <p:nvPr/>
            </p:nvSpPr>
            <p:spPr>
              <a:xfrm flipH="false" flipV="false" rot="0">
                <a:off x="0" y="0"/>
                <a:ext cx="833882" cy="833882"/>
              </a:xfrm>
              <a:custGeom>
                <a:avLst/>
                <a:gdLst/>
                <a:ahLst/>
                <a:cxnLst/>
                <a:rect r="r" b="b" t="t" l="l"/>
                <a:pathLst>
                  <a:path h="833882" w="833882">
                    <a:moveTo>
                      <a:pt x="0" y="0"/>
                    </a:moveTo>
                    <a:lnTo>
                      <a:pt x="833882" y="0"/>
                    </a:lnTo>
                    <a:lnTo>
                      <a:pt x="833882" y="833882"/>
                    </a:lnTo>
                    <a:lnTo>
                      <a:pt x="0" y="83388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-6" b="-6"/>
                </a:stretch>
              </a:blip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457200" y="2834640"/>
              <a:ext cx="6126480" cy="1371600"/>
              <a:chOff x="0" y="0"/>
              <a:chExt cx="6126480" cy="13716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12648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6126480">
                    <a:moveTo>
                      <a:pt x="0" y="0"/>
                    </a:moveTo>
                    <a:lnTo>
                      <a:pt x="6126480" y="0"/>
                    </a:lnTo>
                    <a:lnTo>
                      <a:pt x="612648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37033" r="0" b="-37033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6126480" cy="13716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39"/>
                  </a:lnSpc>
                </a:pPr>
                <a:r>
                  <a:rPr lang="en-US" sz="2449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Automated Dispatch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512064" y="4297680"/>
              <a:ext cx="6016752" cy="3383280"/>
              <a:chOff x="0" y="0"/>
              <a:chExt cx="6016752" cy="338328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016752" cy="3383280"/>
              </a:xfrm>
              <a:custGeom>
                <a:avLst/>
                <a:gdLst/>
                <a:ahLst/>
                <a:cxnLst/>
                <a:rect r="r" b="b" t="t" l="l"/>
                <a:pathLst>
                  <a:path h="3383280" w="6016752">
                    <a:moveTo>
                      <a:pt x="0" y="0"/>
                    </a:moveTo>
                    <a:lnTo>
                      <a:pt x="6016752" y="0"/>
                    </a:lnTo>
                    <a:lnTo>
                      <a:pt x="6016752" y="3383280"/>
                    </a:lnTo>
                    <a:lnTo>
                      <a:pt x="0" y="338328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-22146" t="0" r="-22146" b="0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6016752" cy="34404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74"/>
                  </a:lnSpc>
                </a:pPr>
                <a:r>
                  <a:rPr lang="en-US" sz="1849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Systematically link drivers and tankers to daily time slots without manual coordination.</a:t>
                </a: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0">
            <a:off x="12262104" y="2674620"/>
            <a:ext cx="5280660" cy="5966460"/>
            <a:chOff x="0" y="0"/>
            <a:chExt cx="7040880" cy="7955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40880" cy="7955280"/>
            </a:xfrm>
            <a:custGeom>
              <a:avLst/>
              <a:gdLst/>
              <a:ahLst/>
              <a:cxnLst/>
              <a:rect r="r" b="b" t="t" l="l"/>
              <a:pathLst>
                <a:path h="795528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7772400"/>
                  </a:lnTo>
                  <a:cubicBezTo>
                    <a:pt x="7040880" y="7873365"/>
                    <a:pt x="6958965" y="7955280"/>
                    <a:pt x="685800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250924" y="3154680"/>
            <a:ext cx="1303020" cy="1303020"/>
            <a:chOff x="0" y="0"/>
            <a:chExt cx="1737360" cy="1737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589709" y="3493465"/>
            <a:ext cx="625450" cy="625450"/>
            <a:chOff x="0" y="0"/>
            <a:chExt cx="833933" cy="833933"/>
          </a:xfrm>
        </p:grpSpPr>
        <p:sp>
          <p:nvSpPr>
            <p:cNvPr name="Freeform 46" id="46" descr="icons/lock_0B7A9E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6" b="-6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605004" y="4800600"/>
            <a:ext cx="4594860" cy="1028700"/>
            <a:chOff x="0" y="0"/>
            <a:chExt cx="6126480" cy="137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26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1264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59"/>
                </a:lnSpc>
              </a:pPr>
              <a:r>
                <a:rPr lang="en-US" sz="2549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Data Integrity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646152" y="5897880"/>
            <a:ext cx="4512564" cy="2537460"/>
            <a:chOff x="0" y="0"/>
            <a:chExt cx="6016752" cy="3383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16752" cy="3383280"/>
            </a:xfrm>
            <a:custGeom>
              <a:avLst/>
              <a:gdLst/>
              <a:ahLst/>
              <a:cxnLst/>
              <a:rect r="r" b="b" t="t" l="l"/>
              <a:pathLst>
                <a:path h="3383280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2146" t="0" r="-22146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6016752" cy="3449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24"/>
                </a:lnSpc>
              </a:pPr>
              <a:r>
                <a:rPr lang="en-US" sz="1949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Prevent double-booking through robust transactional locks at the database layer.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823192" y="5143500"/>
            <a:ext cx="438912" cy="685800"/>
            <a:chOff x="0" y="0"/>
            <a:chExt cx="585216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216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0474" t="0" r="-150474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8521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884164" y="5143500"/>
            <a:ext cx="438912" cy="685800"/>
            <a:chOff x="0" y="0"/>
            <a:chExt cx="585216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85216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0474" t="0" r="-150474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58521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→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59448" y="1050944"/>
            <a:ext cx="12043724" cy="194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9"/>
              </a:lnSpc>
            </a:pPr>
            <a:r>
              <a:rPr lang="en-US" sz="8901" spc="-676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Core En</a:t>
            </a:r>
            <a:r>
              <a:rPr lang="en-US" b="true" sz="8901" spc="-676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tities &amp; Attributes</a:t>
            </a:r>
          </a:p>
          <a:p>
            <a:pPr algn="l">
              <a:lnSpc>
                <a:spcPts val="72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35579" y="486679"/>
            <a:ext cx="1192972" cy="1233298"/>
          </a:xfrm>
          <a:custGeom>
            <a:avLst/>
            <a:gdLst/>
            <a:ahLst/>
            <a:cxnLst/>
            <a:rect r="r" b="b" t="t" l="l"/>
            <a:pathLst>
              <a:path h="1233298" w="1192972">
                <a:moveTo>
                  <a:pt x="0" y="0"/>
                </a:moveTo>
                <a:lnTo>
                  <a:pt x="1192973" y="0"/>
                </a:lnTo>
                <a:lnTo>
                  <a:pt x="1192973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48106" y="2606040"/>
            <a:ext cx="3114316" cy="6240780"/>
            <a:chOff x="0" y="0"/>
            <a:chExt cx="4152422" cy="8321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52421" cy="8321040"/>
            </a:xfrm>
            <a:custGeom>
              <a:avLst/>
              <a:gdLst/>
              <a:ahLst/>
              <a:cxnLst/>
              <a:rect r="r" b="b" t="t" l="l"/>
              <a:pathLst>
                <a:path h="8321040" w="4152421">
                  <a:moveTo>
                    <a:pt x="0" y="146304"/>
                  </a:moveTo>
                  <a:cubicBezTo>
                    <a:pt x="0" y="65532"/>
                    <a:pt x="64136" y="0"/>
                    <a:pt x="143187" y="0"/>
                  </a:cubicBezTo>
                  <a:lnTo>
                    <a:pt x="4009235" y="0"/>
                  </a:lnTo>
                  <a:cubicBezTo>
                    <a:pt x="4088286" y="0"/>
                    <a:pt x="4152421" y="65532"/>
                    <a:pt x="4152421" y="146304"/>
                  </a:cubicBezTo>
                  <a:lnTo>
                    <a:pt x="4152421" y="8174736"/>
                  </a:lnTo>
                  <a:cubicBezTo>
                    <a:pt x="4152421" y="8255508"/>
                    <a:pt x="4088286" y="8321040"/>
                    <a:pt x="4009235" y="8321040"/>
                  </a:cubicBezTo>
                  <a:lnTo>
                    <a:pt x="143187" y="8321040"/>
                  </a:lnTo>
                  <a:cubicBezTo>
                    <a:pt x="64136" y="8321040"/>
                    <a:pt x="0" y="8255508"/>
                    <a:pt x="0" y="8174736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8106" y="2606040"/>
            <a:ext cx="3114316" cy="1577340"/>
            <a:chOff x="0" y="0"/>
            <a:chExt cx="4152422" cy="2103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52421" cy="2103120"/>
            </a:xfrm>
            <a:custGeom>
              <a:avLst/>
              <a:gdLst/>
              <a:ahLst/>
              <a:cxnLst/>
              <a:rect r="r" b="b" t="t" l="l"/>
              <a:pathLst>
                <a:path h="2103120" w="4152421">
                  <a:moveTo>
                    <a:pt x="0" y="146304"/>
                  </a:moveTo>
                  <a:cubicBezTo>
                    <a:pt x="0" y="65532"/>
                    <a:pt x="64136" y="0"/>
                    <a:pt x="143187" y="0"/>
                  </a:cubicBezTo>
                  <a:lnTo>
                    <a:pt x="4009235" y="0"/>
                  </a:lnTo>
                  <a:cubicBezTo>
                    <a:pt x="4088286" y="0"/>
                    <a:pt x="4152421" y="65532"/>
                    <a:pt x="4152421" y="146304"/>
                  </a:cubicBezTo>
                  <a:lnTo>
                    <a:pt x="4152421" y="1956816"/>
                  </a:lnTo>
                  <a:cubicBezTo>
                    <a:pt x="4152421" y="2037588"/>
                    <a:pt x="4088286" y="2103120"/>
                    <a:pt x="4009235" y="2103120"/>
                  </a:cubicBezTo>
                  <a:lnTo>
                    <a:pt x="143187" y="2103120"/>
                  </a:lnTo>
                  <a:cubicBezTo>
                    <a:pt x="64136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8106" y="3429000"/>
            <a:ext cx="3114316" cy="754380"/>
            <a:chOff x="0" y="0"/>
            <a:chExt cx="4152422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52421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52421">
                  <a:moveTo>
                    <a:pt x="0" y="0"/>
                  </a:moveTo>
                  <a:lnTo>
                    <a:pt x="4152421" y="0"/>
                  </a:lnTo>
                  <a:lnTo>
                    <a:pt x="4152421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E194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89127" y="2798064"/>
            <a:ext cx="832274" cy="850392"/>
            <a:chOff x="0" y="0"/>
            <a:chExt cx="1109699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969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9699">
                  <a:moveTo>
                    <a:pt x="0" y="566928"/>
                  </a:moveTo>
                  <a:cubicBezTo>
                    <a:pt x="0" y="253873"/>
                    <a:pt x="248464" y="0"/>
                    <a:pt x="554849" y="0"/>
                  </a:cubicBezTo>
                  <a:cubicBezTo>
                    <a:pt x="861235" y="0"/>
                    <a:pt x="1109699" y="253873"/>
                    <a:pt x="1109699" y="566928"/>
                  </a:cubicBezTo>
                  <a:cubicBezTo>
                    <a:pt x="1109699" y="879983"/>
                    <a:pt x="861235" y="1133856"/>
                    <a:pt x="554849" y="1133856"/>
                  </a:cubicBezTo>
                  <a:cubicBezTo>
                    <a:pt x="248464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205520" y="3019168"/>
            <a:ext cx="399488" cy="408184"/>
            <a:chOff x="0" y="0"/>
            <a:chExt cx="532650" cy="544246"/>
          </a:xfrm>
        </p:grpSpPr>
        <p:sp>
          <p:nvSpPr>
            <p:cNvPr name="Freeform 25" id="25" descr="icons/users_045C7C.png"/>
            <p:cNvSpPr/>
            <p:nvPr/>
          </p:nvSpPr>
          <p:spPr>
            <a:xfrm flipH="false" flipV="false" rot="0">
              <a:off x="0" y="0"/>
              <a:ext cx="532601" cy="544195"/>
            </a:xfrm>
            <a:custGeom>
              <a:avLst/>
              <a:gdLst/>
              <a:ahLst/>
              <a:cxnLst/>
              <a:rect r="r" b="b" t="t" l="l"/>
              <a:pathLst>
                <a:path h="544195" w="532601">
                  <a:moveTo>
                    <a:pt x="0" y="0"/>
                  </a:moveTo>
                  <a:lnTo>
                    <a:pt x="532601" y="0"/>
                  </a:lnTo>
                  <a:lnTo>
                    <a:pt x="532601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88" t="0" r="-1097" b="-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48106" y="3785616"/>
            <a:ext cx="3114316" cy="438912"/>
            <a:chOff x="0" y="0"/>
            <a:chExt cx="4152422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52421" cy="585216"/>
            </a:xfrm>
            <a:custGeom>
              <a:avLst/>
              <a:gdLst/>
              <a:ahLst/>
              <a:cxnLst/>
              <a:rect r="r" b="b" t="t" l="l"/>
              <a:pathLst>
                <a:path h="585216" w="4152421">
                  <a:moveTo>
                    <a:pt x="0" y="0"/>
                  </a:moveTo>
                  <a:lnTo>
                    <a:pt x="4152421" y="0"/>
                  </a:lnTo>
                  <a:lnTo>
                    <a:pt x="415242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1266" r="-2176" b="-912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15242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CUSTOMER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62886" y="4457700"/>
            <a:ext cx="2684755" cy="576072"/>
            <a:chOff x="0" y="0"/>
            <a:chExt cx="3579674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CustomerID (PK)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2886" y="5143500"/>
            <a:ext cx="2684755" cy="576072"/>
            <a:chOff x="0" y="0"/>
            <a:chExt cx="3579674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Name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2886" y="5829300"/>
            <a:ext cx="2684755" cy="576072"/>
            <a:chOff x="0" y="0"/>
            <a:chExt cx="3579674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579674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3"/>
                </a:lnSpc>
              </a:pPr>
              <a:r>
                <a:rPr lang="en-US" sz="15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Phone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62886" y="6515100"/>
            <a:ext cx="2684755" cy="576072"/>
            <a:chOff x="0" y="0"/>
            <a:chExt cx="3579674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GPS_Location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217474" y="2606040"/>
            <a:ext cx="3114316" cy="6240780"/>
            <a:chOff x="0" y="0"/>
            <a:chExt cx="4152422" cy="8321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52421" cy="8321040"/>
            </a:xfrm>
            <a:custGeom>
              <a:avLst/>
              <a:gdLst/>
              <a:ahLst/>
              <a:cxnLst/>
              <a:rect r="r" b="b" t="t" l="l"/>
              <a:pathLst>
                <a:path h="8321040" w="4152421">
                  <a:moveTo>
                    <a:pt x="0" y="146304"/>
                  </a:moveTo>
                  <a:cubicBezTo>
                    <a:pt x="0" y="65532"/>
                    <a:pt x="64136" y="0"/>
                    <a:pt x="143187" y="0"/>
                  </a:cubicBezTo>
                  <a:lnTo>
                    <a:pt x="4009235" y="0"/>
                  </a:lnTo>
                  <a:cubicBezTo>
                    <a:pt x="4088286" y="0"/>
                    <a:pt x="4152421" y="65532"/>
                    <a:pt x="4152421" y="146304"/>
                  </a:cubicBezTo>
                  <a:lnTo>
                    <a:pt x="4152421" y="8174736"/>
                  </a:lnTo>
                  <a:cubicBezTo>
                    <a:pt x="4152421" y="8255508"/>
                    <a:pt x="4088286" y="8321040"/>
                    <a:pt x="4009235" y="8321040"/>
                  </a:cubicBezTo>
                  <a:lnTo>
                    <a:pt x="143187" y="8321040"/>
                  </a:lnTo>
                  <a:cubicBezTo>
                    <a:pt x="64136" y="8321040"/>
                    <a:pt x="0" y="8255508"/>
                    <a:pt x="0" y="8174736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217474" y="2606040"/>
            <a:ext cx="3114316" cy="1577340"/>
            <a:chOff x="0" y="0"/>
            <a:chExt cx="4152422" cy="2103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52421" cy="2103120"/>
            </a:xfrm>
            <a:custGeom>
              <a:avLst/>
              <a:gdLst/>
              <a:ahLst/>
              <a:cxnLst/>
              <a:rect r="r" b="b" t="t" l="l"/>
              <a:pathLst>
                <a:path h="2103120" w="4152421">
                  <a:moveTo>
                    <a:pt x="0" y="146304"/>
                  </a:moveTo>
                  <a:cubicBezTo>
                    <a:pt x="0" y="65532"/>
                    <a:pt x="64136" y="0"/>
                    <a:pt x="143187" y="0"/>
                  </a:cubicBezTo>
                  <a:lnTo>
                    <a:pt x="4009235" y="0"/>
                  </a:lnTo>
                  <a:cubicBezTo>
                    <a:pt x="4088286" y="0"/>
                    <a:pt x="4152421" y="65532"/>
                    <a:pt x="4152421" y="146304"/>
                  </a:cubicBezTo>
                  <a:lnTo>
                    <a:pt x="4152421" y="1956816"/>
                  </a:lnTo>
                  <a:cubicBezTo>
                    <a:pt x="4152421" y="2037588"/>
                    <a:pt x="4088286" y="2103120"/>
                    <a:pt x="4009235" y="2103120"/>
                  </a:cubicBezTo>
                  <a:lnTo>
                    <a:pt x="143187" y="2103120"/>
                  </a:lnTo>
                  <a:cubicBezTo>
                    <a:pt x="64136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217474" y="3429000"/>
            <a:ext cx="3114316" cy="754380"/>
            <a:chOff x="0" y="0"/>
            <a:chExt cx="4152422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52421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52421">
                  <a:moveTo>
                    <a:pt x="0" y="0"/>
                  </a:moveTo>
                  <a:lnTo>
                    <a:pt x="4152421" y="0"/>
                  </a:lnTo>
                  <a:lnTo>
                    <a:pt x="4152421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E194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358495" y="2798064"/>
            <a:ext cx="832274" cy="850392"/>
            <a:chOff x="0" y="0"/>
            <a:chExt cx="1109699" cy="11338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0969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9699">
                  <a:moveTo>
                    <a:pt x="0" y="566928"/>
                  </a:moveTo>
                  <a:cubicBezTo>
                    <a:pt x="0" y="253873"/>
                    <a:pt x="248464" y="0"/>
                    <a:pt x="554849" y="0"/>
                  </a:cubicBezTo>
                  <a:cubicBezTo>
                    <a:pt x="861235" y="0"/>
                    <a:pt x="1109699" y="253873"/>
                    <a:pt x="1109699" y="566928"/>
                  </a:cubicBezTo>
                  <a:cubicBezTo>
                    <a:pt x="1109699" y="879983"/>
                    <a:pt x="861235" y="1133856"/>
                    <a:pt x="554849" y="1133856"/>
                  </a:cubicBezTo>
                  <a:cubicBezTo>
                    <a:pt x="248464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574888" y="3019168"/>
            <a:ext cx="399488" cy="408184"/>
            <a:chOff x="0" y="0"/>
            <a:chExt cx="532650" cy="544246"/>
          </a:xfrm>
        </p:grpSpPr>
        <p:sp>
          <p:nvSpPr>
            <p:cNvPr name="Freeform 50" id="50" descr="icons/truck_045C7C.png"/>
            <p:cNvSpPr/>
            <p:nvPr/>
          </p:nvSpPr>
          <p:spPr>
            <a:xfrm flipH="false" flipV="false" rot="0">
              <a:off x="0" y="0"/>
              <a:ext cx="532601" cy="544195"/>
            </a:xfrm>
            <a:custGeom>
              <a:avLst/>
              <a:gdLst/>
              <a:ahLst/>
              <a:cxnLst/>
              <a:rect r="r" b="b" t="t" l="l"/>
              <a:pathLst>
                <a:path h="544195" w="532601">
                  <a:moveTo>
                    <a:pt x="0" y="0"/>
                  </a:moveTo>
                  <a:lnTo>
                    <a:pt x="532601" y="0"/>
                  </a:lnTo>
                  <a:lnTo>
                    <a:pt x="532601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088" t="0" r="-1097" b="-9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217474" y="3785616"/>
            <a:ext cx="3114316" cy="438912"/>
            <a:chOff x="0" y="0"/>
            <a:chExt cx="4152422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52421" cy="585216"/>
            </a:xfrm>
            <a:custGeom>
              <a:avLst/>
              <a:gdLst/>
              <a:ahLst/>
              <a:cxnLst/>
              <a:rect r="r" b="b" t="t" l="l"/>
              <a:pathLst>
                <a:path h="585216" w="4152421">
                  <a:moveTo>
                    <a:pt x="0" y="0"/>
                  </a:moveTo>
                  <a:lnTo>
                    <a:pt x="4152421" y="0"/>
                  </a:lnTo>
                  <a:lnTo>
                    <a:pt x="415242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1266" r="-2176" b="-9126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415242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TANKER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432254" y="4457700"/>
            <a:ext cx="2684755" cy="576072"/>
            <a:chOff x="0" y="0"/>
            <a:chExt cx="3579674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TankerID (PK)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432254" y="5143500"/>
            <a:ext cx="2684755" cy="576072"/>
            <a:chOff x="0" y="0"/>
            <a:chExt cx="3579674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Capacity_Liters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432254" y="5829300"/>
            <a:ext cx="2684755" cy="576072"/>
            <a:chOff x="0" y="0"/>
            <a:chExt cx="3579674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579674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3"/>
                </a:lnSpc>
              </a:pPr>
              <a:r>
                <a:rPr lang="en-US" sz="15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License_Plate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432254" y="6515100"/>
            <a:ext cx="2684755" cy="576072"/>
            <a:chOff x="0" y="0"/>
            <a:chExt cx="3579674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Status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586842" y="2606040"/>
            <a:ext cx="3114316" cy="6240780"/>
            <a:chOff x="0" y="0"/>
            <a:chExt cx="4152422" cy="83210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52421" cy="8321040"/>
            </a:xfrm>
            <a:custGeom>
              <a:avLst/>
              <a:gdLst/>
              <a:ahLst/>
              <a:cxnLst/>
              <a:rect r="r" b="b" t="t" l="l"/>
              <a:pathLst>
                <a:path h="8321040" w="4152421">
                  <a:moveTo>
                    <a:pt x="0" y="146304"/>
                  </a:moveTo>
                  <a:cubicBezTo>
                    <a:pt x="0" y="65532"/>
                    <a:pt x="64136" y="0"/>
                    <a:pt x="143187" y="0"/>
                  </a:cubicBezTo>
                  <a:lnTo>
                    <a:pt x="4009235" y="0"/>
                  </a:lnTo>
                  <a:cubicBezTo>
                    <a:pt x="4088286" y="0"/>
                    <a:pt x="4152421" y="65532"/>
                    <a:pt x="4152421" y="146304"/>
                  </a:cubicBezTo>
                  <a:lnTo>
                    <a:pt x="4152421" y="8174736"/>
                  </a:lnTo>
                  <a:cubicBezTo>
                    <a:pt x="4152421" y="8255508"/>
                    <a:pt x="4088286" y="8321040"/>
                    <a:pt x="4009235" y="8321040"/>
                  </a:cubicBezTo>
                  <a:lnTo>
                    <a:pt x="143187" y="8321040"/>
                  </a:lnTo>
                  <a:cubicBezTo>
                    <a:pt x="64136" y="8321040"/>
                    <a:pt x="0" y="8255508"/>
                    <a:pt x="0" y="8174736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586842" y="2606040"/>
            <a:ext cx="3114316" cy="1577340"/>
            <a:chOff x="0" y="0"/>
            <a:chExt cx="4152422" cy="21031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152421" cy="2103120"/>
            </a:xfrm>
            <a:custGeom>
              <a:avLst/>
              <a:gdLst/>
              <a:ahLst/>
              <a:cxnLst/>
              <a:rect r="r" b="b" t="t" l="l"/>
              <a:pathLst>
                <a:path h="2103120" w="4152421">
                  <a:moveTo>
                    <a:pt x="0" y="146304"/>
                  </a:moveTo>
                  <a:cubicBezTo>
                    <a:pt x="0" y="65532"/>
                    <a:pt x="64136" y="0"/>
                    <a:pt x="143187" y="0"/>
                  </a:cubicBezTo>
                  <a:lnTo>
                    <a:pt x="4009235" y="0"/>
                  </a:lnTo>
                  <a:cubicBezTo>
                    <a:pt x="4088286" y="0"/>
                    <a:pt x="4152421" y="65532"/>
                    <a:pt x="4152421" y="146304"/>
                  </a:cubicBezTo>
                  <a:lnTo>
                    <a:pt x="4152421" y="1956816"/>
                  </a:lnTo>
                  <a:cubicBezTo>
                    <a:pt x="4152421" y="2037588"/>
                    <a:pt x="4088286" y="2103120"/>
                    <a:pt x="4009235" y="2103120"/>
                  </a:cubicBezTo>
                  <a:lnTo>
                    <a:pt x="143187" y="2103120"/>
                  </a:lnTo>
                  <a:cubicBezTo>
                    <a:pt x="64136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586842" y="3429000"/>
            <a:ext cx="3114316" cy="754380"/>
            <a:chOff x="0" y="0"/>
            <a:chExt cx="4152422" cy="1005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152421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52421">
                  <a:moveTo>
                    <a:pt x="0" y="0"/>
                  </a:moveTo>
                  <a:lnTo>
                    <a:pt x="4152421" y="0"/>
                  </a:lnTo>
                  <a:lnTo>
                    <a:pt x="4152421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E1943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727863" y="2798064"/>
            <a:ext cx="832274" cy="850392"/>
            <a:chOff x="0" y="0"/>
            <a:chExt cx="1109699" cy="11338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969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9699">
                  <a:moveTo>
                    <a:pt x="0" y="566928"/>
                  </a:moveTo>
                  <a:cubicBezTo>
                    <a:pt x="0" y="253873"/>
                    <a:pt x="248464" y="0"/>
                    <a:pt x="554849" y="0"/>
                  </a:cubicBezTo>
                  <a:cubicBezTo>
                    <a:pt x="861235" y="0"/>
                    <a:pt x="1109699" y="253873"/>
                    <a:pt x="1109699" y="566928"/>
                  </a:cubicBezTo>
                  <a:cubicBezTo>
                    <a:pt x="1109699" y="879983"/>
                    <a:pt x="861235" y="1133856"/>
                    <a:pt x="554849" y="1133856"/>
                  </a:cubicBezTo>
                  <a:cubicBezTo>
                    <a:pt x="248464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8944256" y="3019168"/>
            <a:ext cx="399488" cy="408184"/>
            <a:chOff x="0" y="0"/>
            <a:chExt cx="532650" cy="544246"/>
          </a:xfrm>
        </p:grpSpPr>
        <p:sp>
          <p:nvSpPr>
            <p:cNvPr name="Freeform 75" id="75" descr="icons/userTie_045C7C.png"/>
            <p:cNvSpPr/>
            <p:nvPr/>
          </p:nvSpPr>
          <p:spPr>
            <a:xfrm flipH="false" flipV="false" rot="0">
              <a:off x="0" y="0"/>
              <a:ext cx="532601" cy="544195"/>
            </a:xfrm>
            <a:custGeom>
              <a:avLst/>
              <a:gdLst/>
              <a:ahLst/>
              <a:cxnLst/>
              <a:rect r="r" b="b" t="t" l="l"/>
              <a:pathLst>
                <a:path h="544195" w="532601">
                  <a:moveTo>
                    <a:pt x="0" y="0"/>
                  </a:moveTo>
                  <a:lnTo>
                    <a:pt x="532601" y="0"/>
                  </a:lnTo>
                  <a:lnTo>
                    <a:pt x="532601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088" t="0" r="-1097" b="-9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586842" y="3785616"/>
            <a:ext cx="3114316" cy="438912"/>
            <a:chOff x="0" y="0"/>
            <a:chExt cx="4152422" cy="58521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152421" cy="585216"/>
            </a:xfrm>
            <a:custGeom>
              <a:avLst/>
              <a:gdLst/>
              <a:ahLst/>
              <a:cxnLst/>
              <a:rect r="r" b="b" t="t" l="l"/>
              <a:pathLst>
                <a:path h="585216" w="4152421">
                  <a:moveTo>
                    <a:pt x="0" y="0"/>
                  </a:moveTo>
                  <a:lnTo>
                    <a:pt x="4152421" y="0"/>
                  </a:lnTo>
                  <a:lnTo>
                    <a:pt x="415242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1266" r="-2176" b="-9126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415242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DRIVER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801622" y="4457700"/>
            <a:ext cx="2684755" cy="576072"/>
            <a:chOff x="0" y="0"/>
            <a:chExt cx="3579674" cy="7680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DriverID (PK)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801622" y="5143500"/>
            <a:ext cx="2684755" cy="576072"/>
            <a:chOff x="0" y="0"/>
            <a:chExt cx="3579674" cy="7680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Name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801622" y="5829300"/>
            <a:ext cx="2684755" cy="576072"/>
            <a:chOff x="0" y="0"/>
            <a:chExt cx="3579674" cy="76809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Phone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801622" y="6515100"/>
            <a:ext cx="2684755" cy="576072"/>
            <a:chOff x="0" y="0"/>
            <a:chExt cx="3579674" cy="76809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License_No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956210" y="2606040"/>
            <a:ext cx="3114316" cy="6240780"/>
            <a:chOff x="0" y="0"/>
            <a:chExt cx="4152422" cy="83210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152421" cy="8321040"/>
            </a:xfrm>
            <a:custGeom>
              <a:avLst/>
              <a:gdLst/>
              <a:ahLst/>
              <a:cxnLst/>
              <a:rect r="r" b="b" t="t" l="l"/>
              <a:pathLst>
                <a:path h="8321040" w="4152421">
                  <a:moveTo>
                    <a:pt x="0" y="146304"/>
                  </a:moveTo>
                  <a:cubicBezTo>
                    <a:pt x="0" y="65532"/>
                    <a:pt x="64136" y="0"/>
                    <a:pt x="143187" y="0"/>
                  </a:cubicBezTo>
                  <a:lnTo>
                    <a:pt x="4009235" y="0"/>
                  </a:lnTo>
                  <a:cubicBezTo>
                    <a:pt x="4088286" y="0"/>
                    <a:pt x="4152421" y="65532"/>
                    <a:pt x="4152421" y="146304"/>
                  </a:cubicBezTo>
                  <a:lnTo>
                    <a:pt x="4152421" y="8174736"/>
                  </a:lnTo>
                  <a:cubicBezTo>
                    <a:pt x="4152421" y="8255508"/>
                    <a:pt x="4088286" y="8321040"/>
                    <a:pt x="4009235" y="8321040"/>
                  </a:cubicBezTo>
                  <a:lnTo>
                    <a:pt x="143187" y="8321040"/>
                  </a:lnTo>
                  <a:cubicBezTo>
                    <a:pt x="64136" y="8321040"/>
                    <a:pt x="0" y="8255508"/>
                    <a:pt x="0" y="8174736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956210" y="2606040"/>
            <a:ext cx="3114316" cy="1577340"/>
            <a:chOff x="0" y="0"/>
            <a:chExt cx="4152422" cy="21031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52421" cy="2103120"/>
            </a:xfrm>
            <a:custGeom>
              <a:avLst/>
              <a:gdLst/>
              <a:ahLst/>
              <a:cxnLst/>
              <a:rect r="r" b="b" t="t" l="l"/>
              <a:pathLst>
                <a:path h="2103120" w="4152421">
                  <a:moveTo>
                    <a:pt x="0" y="146304"/>
                  </a:moveTo>
                  <a:cubicBezTo>
                    <a:pt x="0" y="65532"/>
                    <a:pt x="64136" y="0"/>
                    <a:pt x="143187" y="0"/>
                  </a:cubicBezTo>
                  <a:lnTo>
                    <a:pt x="4009235" y="0"/>
                  </a:lnTo>
                  <a:cubicBezTo>
                    <a:pt x="4088286" y="0"/>
                    <a:pt x="4152421" y="65532"/>
                    <a:pt x="4152421" y="146304"/>
                  </a:cubicBezTo>
                  <a:lnTo>
                    <a:pt x="4152421" y="1956816"/>
                  </a:lnTo>
                  <a:cubicBezTo>
                    <a:pt x="4152421" y="2037588"/>
                    <a:pt x="4088286" y="2103120"/>
                    <a:pt x="4009235" y="2103120"/>
                  </a:cubicBezTo>
                  <a:lnTo>
                    <a:pt x="143187" y="2103120"/>
                  </a:lnTo>
                  <a:cubicBezTo>
                    <a:pt x="64136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956210" y="3429000"/>
            <a:ext cx="3114316" cy="754380"/>
            <a:chOff x="0" y="0"/>
            <a:chExt cx="4152422" cy="10058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152421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52421">
                  <a:moveTo>
                    <a:pt x="0" y="0"/>
                  </a:moveTo>
                  <a:lnTo>
                    <a:pt x="4152421" y="0"/>
                  </a:lnTo>
                  <a:lnTo>
                    <a:pt x="4152421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E1943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097231" y="2798064"/>
            <a:ext cx="832274" cy="850392"/>
            <a:chOff x="0" y="0"/>
            <a:chExt cx="1109699" cy="11338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0969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9699">
                  <a:moveTo>
                    <a:pt x="0" y="566928"/>
                  </a:moveTo>
                  <a:cubicBezTo>
                    <a:pt x="0" y="253873"/>
                    <a:pt x="248464" y="0"/>
                    <a:pt x="554849" y="0"/>
                  </a:cubicBezTo>
                  <a:cubicBezTo>
                    <a:pt x="861235" y="0"/>
                    <a:pt x="1109699" y="253873"/>
                    <a:pt x="1109699" y="566928"/>
                  </a:cubicBezTo>
                  <a:cubicBezTo>
                    <a:pt x="1109699" y="879983"/>
                    <a:pt x="861235" y="1133856"/>
                    <a:pt x="554849" y="1133856"/>
                  </a:cubicBezTo>
                  <a:cubicBezTo>
                    <a:pt x="248464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313624" y="3019168"/>
            <a:ext cx="399488" cy="408184"/>
            <a:chOff x="0" y="0"/>
            <a:chExt cx="532650" cy="544246"/>
          </a:xfrm>
        </p:grpSpPr>
        <p:sp>
          <p:nvSpPr>
            <p:cNvPr name="Freeform 100" id="100" descr="icons/clipboardCheck_045C7C.png"/>
            <p:cNvSpPr/>
            <p:nvPr/>
          </p:nvSpPr>
          <p:spPr>
            <a:xfrm flipH="false" flipV="false" rot="0">
              <a:off x="0" y="0"/>
              <a:ext cx="532601" cy="544195"/>
            </a:xfrm>
            <a:custGeom>
              <a:avLst/>
              <a:gdLst/>
              <a:ahLst/>
              <a:cxnLst/>
              <a:rect r="r" b="b" t="t" l="l"/>
              <a:pathLst>
                <a:path h="544195" w="532601">
                  <a:moveTo>
                    <a:pt x="0" y="0"/>
                  </a:moveTo>
                  <a:lnTo>
                    <a:pt x="532601" y="0"/>
                  </a:lnTo>
                  <a:lnTo>
                    <a:pt x="532601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88" t="0" r="-1097" b="-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956210" y="3785616"/>
            <a:ext cx="3114316" cy="438912"/>
            <a:chOff x="0" y="0"/>
            <a:chExt cx="4152422" cy="58521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152421" cy="585216"/>
            </a:xfrm>
            <a:custGeom>
              <a:avLst/>
              <a:gdLst/>
              <a:ahLst/>
              <a:cxnLst/>
              <a:rect r="r" b="b" t="t" l="l"/>
              <a:pathLst>
                <a:path h="585216" w="4152421">
                  <a:moveTo>
                    <a:pt x="0" y="0"/>
                  </a:moveTo>
                  <a:lnTo>
                    <a:pt x="4152421" y="0"/>
                  </a:lnTo>
                  <a:lnTo>
                    <a:pt x="415242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1266" r="-2176" b="-9126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415242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BOOKING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170990" y="4457700"/>
            <a:ext cx="2684755" cy="576072"/>
            <a:chOff x="0" y="0"/>
            <a:chExt cx="3579674" cy="76809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BookingID (PK)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170990" y="5143500"/>
            <a:ext cx="2684755" cy="576072"/>
            <a:chOff x="0" y="0"/>
            <a:chExt cx="3579674" cy="76809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CustomerID (FK)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170990" y="5829300"/>
            <a:ext cx="2684755" cy="576072"/>
            <a:chOff x="0" y="0"/>
            <a:chExt cx="3579674" cy="7680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Date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170990" y="6515100"/>
            <a:ext cx="2684755" cy="576072"/>
            <a:chOff x="0" y="0"/>
            <a:chExt cx="3579674" cy="76809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TimeSlot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325578" y="2606040"/>
            <a:ext cx="3114316" cy="6240780"/>
            <a:chOff x="0" y="0"/>
            <a:chExt cx="4152422" cy="83210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152421" cy="8321040"/>
            </a:xfrm>
            <a:custGeom>
              <a:avLst/>
              <a:gdLst/>
              <a:ahLst/>
              <a:cxnLst/>
              <a:rect r="r" b="b" t="t" l="l"/>
              <a:pathLst>
                <a:path h="8321040" w="4152421">
                  <a:moveTo>
                    <a:pt x="0" y="146304"/>
                  </a:moveTo>
                  <a:cubicBezTo>
                    <a:pt x="0" y="65532"/>
                    <a:pt x="64136" y="0"/>
                    <a:pt x="143187" y="0"/>
                  </a:cubicBezTo>
                  <a:lnTo>
                    <a:pt x="4009235" y="0"/>
                  </a:lnTo>
                  <a:cubicBezTo>
                    <a:pt x="4088286" y="0"/>
                    <a:pt x="4152421" y="65532"/>
                    <a:pt x="4152421" y="146304"/>
                  </a:cubicBezTo>
                  <a:lnTo>
                    <a:pt x="4152421" y="8174736"/>
                  </a:lnTo>
                  <a:cubicBezTo>
                    <a:pt x="4152421" y="8255508"/>
                    <a:pt x="4088286" y="8321040"/>
                    <a:pt x="4009235" y="8321040"/>
                  </a:cubicBezTo>
                  <a:lnTo>
                    <a:pt x="143187" y="8321040"/>
                  </a:lnTo>
                  <a:cubicBezTo>
                    <a:pt x="64136" y="8321040"/>
                    <a:pt x="0" y="8255508"/>
                    <a:pt x="0" y="8174736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4325578" y="2606040"/>
            <a:ext cx="3114316" cy="1577340"/>
            <a:chOff x="0" y="0"/>
            <a:chExt cx="4152422" cy="210312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152421" cy="2103120"/>
            </a:xfrm>
            <a:custGeom>
              <a:avLst/>
              <a:gdLst/>
              <a:ahLst/>
              <a:cxnLst/>
              <a:rect r="r" b="b" t="t" l="l"/>
              <a:pathLst>
                <a:path h="2103120" w="4152421">
                  <a:moveTo>
                    <a:pt x="0" y="146304"/>
                  </a:moveTo>
                  <a:cubicBezTo>
                    <a:pt x="0" y="65532"/>
                    <a:pt x="64136" y="0"/>
                    <a:pt x="143187" y="0"/>
                  </a:cubicBezTo>
                  <a:lnTo>
                    <a:pt x="4009235" y="0"/>
                  </a:lnTo>
                  <a:cubicBezTo>
                    <a:pt x="4088286" y="0"/>
                    <a:pt x="4152421" y="65532"/>
                    <a:pt x="4152421" y="146304"/>
                  </a:cubicBezTo>
                  <a:lnTo>
                    <a:pt x="4152421" y="1956816"/>
                  </a:lnTo>
                  <a:cubicBezTo>
                    <a:pt x="4152421" y="2037588"/>
                    <a:pt x="4088286" y="2103120"/>
                    <a:pt x="4009235" y="2103120"/>
                  </a:cubicBezTo>
                  <a:lnTo>
                    <a:pt x="143187" y="2103120"/>
                  </a:lnTo>
                  <a:cubicBezTo>
                    <a:pt x="64136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4325578" y="3429000"/>
            <a:ext cx="3114316" cy="754380"/>
            <a:chOff x="0" y="0"/>
            <a:chExt cx="4152422" cy="10058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152421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52421">
                  <a:moveTo>
                    <a:pt x="0" y="0"/>
                  </a:moveTo>
                  <a:lnTo>
                    <a:pt x="4152421" y="0"/>
                  </a:lnTo>
                  <a:lnTo>
                    <a:pt x="4152421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E1943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5466599" y="2798064"/>
            <a:ext cx="832274" cy="850392"/>
            <a:chOff x="0" y="0"/>
            <a:chExt cx="1109699" cy="113385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09699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9699">
                  <a:moveTo>
                    <a:pt x="0" y="566928"/>
                  </a:moveTo>
                  <a:cubicBezTo>
                    <a:pt x="0" y="253873"/>
                    <a:pt x="248464" y="0"/>
                    <a:pt x="554849" y="0"/>
                  </a:cubicBezTo>
                  <a:cubicBezTo>
                    <a:pt x="861235" y="0"/>
                    <a:pt x="1109699" y="253873"/>
                    <a:pt x="1109699" y="566928"/>
                  </a:cubicBezTo>
                  <a:cubicBezTo>
                    <a:pt x="1109699" y="879983"/>
                    <a:pt x="861235" y="1133856"/>
                    <a:pt x="554849" y="1133856"/>
                  </a:cubicBezTo>
                  <a:cubicBezTo>
                    <a:pt x="248464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5682992" y="3019168"/>
            <a:ext cx="399488" cy="408184"/>
            <a:chOff x="0" y="0"/>
            <a:chExt cx="532650" cy="544246"/>
          </a:xfrm>
        </p:grpSpPr>
        <p:sp>
          <p:nvSpPr>
            <p:cNvPr name="Freeform 125" id="125" descr="icons/creditCard_045C7C.png"/>
            <p:cNvSpPr/>
            <p:nvPr/>
          </p:nvSpPr>
          <p:spPr>
            <a:xfrm flipH="false" flipV="false" rot="0">
              <a:off x="0" y="0"/>
              <a:ext cx="532601" cy="544195"/>
            </a:xfrm>
            <a:custGeom>
              <a:avLst/>
              <a:gdLst/>
              <a:ahLst/>
              <a:cxnLst/>
              <a:rect r="r" b="b" t="t" l="l"/>
              <a:pathLst>
                <a:path h="544195" w="532601">
                  <a:moveTo>
                    <a:pt x="0" y="0"/>
                  </a:moveTo>
                  <a:lnTo>
                    <a:pt x="532601" y="0"/>
                  </a:lnTo>
                  <a:lnTo>
                    <a:pt x="532601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088" t="0" r="-1097" b="-9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4325578" y="3785616"/>
            <a:ext cx="3114316" cy="438912"/>
            <a:chOff x="0" y="0"/>
            <a:chExt cx="4152422" cy="585216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152421" cy="585216"/>
            </a:xfrm>
            <a:custGeom>
              <a:avLst/>
              <a:gdLst/>
              <a:ahLst/>
              <a:cxnLst/>
              <a:rect r="r" b="b" t="t" l="l"/>
              <a:pathLst>
                <a:path h="585216" w="4152421">
                  <a:moveTo>
                    <a:pt x="0" y="0"/>
                  </a:moveTo>
                  <a:lnTo>
                    <a:pt x="4152421" y="0"/>
                  </a:lnTo>
                  <a:lnTo>
                    <a:pt x="415242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1266" r="-2176" b="-9126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415242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PAYMENT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4540358" y="4457700"/>
            <a:ext cx="2684755" cy="576072"/>
            <a:chOff x="0" y="0"/>
            <a:chExt cx="3579674" cy="76809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PaymentID (PK)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4540358" y="5143500"/>
            <a:ext cx="2684755" cy="576072"/>
            <a:chOff x="0" y="0"/>
            <a:chExt cx="3579674" cy="76809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BookingID (FK)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4540358" y="5829300"/>
            <a:ext cx="2684755" cy="576072"/>
            <a:chOff x="0" y="0"/>
            <a:chExt cx="3579674" cy="76809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Amount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4540358" y="6515100"/>
            <a:ext cx="2684755" cy="576072"/>
            <a:chOff x="0" y="0"/>
            <a:chExt cx="3579674" cy="76809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579674" cy="768096"/>
            </a:xfrm>
            <a:custGeom>
              <a:avLst/>
              <a:gdLst/>
              <a:ahLst/>
              <a:cxnLst/>
              <a:rect r="r" b="b" t="t" l="l"/>
              <a:pathLst>
                <a:path h="768096" w="3579674">
                  <a:moveTo>
                    <a:pt x="0" y="0"/>
                  </a:moveTo>
                  <a:lnTo>
                    <a:pt x="3579674" y="0"/>
                  </a:lnTo>
                  <a:lnTo>
                    <a:pt x="357967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785" r="-2176" b="-42785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0"/>
              <a:ext cx="357967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3"/>
                </a:lnSpc>
              </a:pPr>
              <a:r>
                <a:rPr lang="en-US" sz="1694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Method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68349" y="1058607"/>
            <a:ext cx="16751301" cy="183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9"/>
              </a:lnSpc>
            </a:pPr>
            <a:r>
              <a:rPr lang="en-US" sz="8401" spc="-63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System Arch</a:t>
            </a:r>
            <a:r>
              <a:rPr lang="en-US" b="true" sz="8401" spc="-638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itecture &amp; Relationships</a:t>
            </a:r>
          </a:p>
          <a:p>
            <a:pPr algn="l">
              <a:lnSpc>
                <a:spcPts val="688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8622832"/>
            <a:ext cx="880594" cy="910361"/>
          </a:xfrm>
          <a:custGeom>
            <a:avLst/>
            <a:gdLst/>
            <a:ahLst/>
            <a:cxnLst/>
            <a:rect r="r" b="b" t="t" l="l"/>
            <a:pathLst>
              <a:path h="910361" w="880594">
                <a:moveTo>
                  <a:pt x="0" y="0"/>
                </a:moveTo>
                <a:lnTo>
                  <a:pt x="880594" y="0"/>
                </a:lnTo>
                <a:lnTo>
                  <a:pt x="880594" y="910361"/>
                </a:lnTo>
                <a:lnTo>
                  <a:pt x="0" y="91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2134607"/>
            <a:ext cx="16184880" cy="5006340"/>
            <a:chOff x="0" y="0"/>
            <a:chExt cx="21579840" cy="667512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2286000"/>
              <a:ext cx="4572000" cy="2103120"/>
              <a:chOff x="0" y="0"/>
              <a:chExt cx="4572000" cy="210312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572000" cy="2103120"/>
              </a:xfrm>
              <a:custGeom>
                <a:avLst/>
                <a:gdLst/>
                <a:ahLst/>
                <a:cxnLst/>
                <a:rect r="r" b="b" t="t" l="l"/>
                <a:pathLst>
                  <a:path h="2103120" w="457200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4425696" y="0"/>
                    </a:lnTo>
                    <a:cubicBezTo>
                      <a:pt x="4506468" y="0"/>
                      <a:pt x="4572000" y="65532"/>
                      <a:pt x="4572000" y="146304"/>
                    </a:cubicBezTo>
                    <a:lnTo>
                      <a:pt x="4572000" y="1956816"/>
                    </a:lnTo>
                    <a:cubicBezTo>
                      <a:pt x="4572000" y="2037588"/>
                      <a:pt x="4506468" y="2103120"/>
                      <a:pt x="4425696" y="2103120"/>
                    </a:cubicBezTo>
                    <a:lnTo>
                      <a:pt x="146304" y="2103120"/>
                    </a:lnTo>
                    <a:cubicBezTo>
                      <a:pt x="65532" y="2103120"/>
                      <a:pt x="0" y="2037588"/>
                      <a:pt x="0" y="1956816"/>
                    </a:cubicBezTo>
                    <a:close/>
                  </a:path>
                </a:pathLst>
              </a:custGeom>
              <a:solidFill>
                <a:srgbClr val="1D348A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2542032"/>
              <a:ext cx="4572000" cy="621792"/>
              <a:chOff x="0" y="0"/>
              <a:chExt cx="4572000" cy="62179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572000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621792"/>
                    </a:lnTo>
                    <a:lnTo>
                      <a:pt x="0" y="621792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93272" r="0" b="-93272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4572000" cy="6313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89"/>
                  </a:lnSpc>
                </a:pPr>
                <a:r>
                  <a:rPr lang="en-US" sz="2324">
                    <a:solidFill>
                      <a:srgbClr val="FFFFFF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CUSTOMER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3200400"/>
              <a:ext cx="4572000" cy="1005840"/>
              <a:chOff x="0" y="0"/>
              <a:chExt cx="4572000" cy="100584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57200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38568" r="0" b="-38568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572000" cy="10439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76"/>
                  </a:lnSpc>
                </a:pPr>
                <a:r>
                  <a:rPr lang="en-US" sz="1649">
                    <a:solidFill>
                      <a:srgbClr val="FFFFFF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Places bookings over time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8503920" y="2286000"/>
              <a:ext cx="4572000" cy="2103120"/>
              <a:chOff x="0" y="0"/>
              <a:chExt cx="4572000" cy="210312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572000" cy="2103120"/>
              </a:xfrm>
              <a:custGeom>
                <a:avLst/>
                <a:gdLst/>
                <a:ahLst/>
                <a:cxnLst/>
                <a:rect r="r" b="b" t="t" l="l"/>
                <a:pathLst>
                  <a:path h="2103120" w="457200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4425696" y="0"/>
                    </a:lnTo>
                    <a:cubicBezTo>
                      <a:pt x="4506468" y="0"/>
                      <a:pt x="4572000" y="65532"/>
                      <a:pt x="4572000" y="146304"/>
                    </a:cubicBezTo>
                    <a:lnTo>
                      <a:pt x="4572000" y="1956816"/>
                    </a:lnTo>
                    <a:cubicBezTo>
                      <a:pt x="4572000" y="2037588"/>
                      <a:pt x="4506468" y="2103120"/>
                      <a:pt x="4425696" y="2103120"/>
                    </a:cubicBezTo>
                    <a:lnTo>
                      <a:pt x="146304" y="2103120"/>
                    </a:lnTo>
                    <a:cubicBezTo>
                      <a:pt x="65532" y="2103120"/>
                      <a:pt x="0" y="2037588"/>
                      <a:pt x="0" y="1956816"/>
                    </a:cubicBezTo>
                    <a:close/>
                  </a:path>
                </a:pathLst>
              </a:custGeom>
              <a:solidFill>
                <a:srgbClr val="1D348A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8503920" y="2542032"/>
              <a:ext cx="4572000" cy="621792"/>
              <a:chOff x="0" y="0"/>
              <a:chExt cx="4572000" cy="62179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572000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621792"/>
                    </a:lnTo>
                    <a:lnTo>
                      <a:pt x="0" y="621792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93272" r="0" b="-93272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4572000" cy="6313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89"/>
                  </a:lnSpc>
                </a:pPr>
                <a:r>
                  <a:rPr lang="en-US" sz="2324">
                    <a:solidFill>
                      <a:srgbClr val="FFFFFF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BOOKING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8503920" y="3200400"/>
              <a:ext cx="4572000" cy="1005840"/>
              <a:chOff x="0" y="0"/>
              <a:chExt cx="4572000" cy="100584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57200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38568" r="0" b="-38568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4572000" cy="10439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76"/>
                  </a:lnSpc>
                </a:pPr>
                <a:r>
                  <a:rPr lang="en-US" sz="1649">
                    <a:solidFill>
                      <a:srgbClr val="FFFFFF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Central transaction record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7007840" y="0"/>
              <a:ext cx="4572000" cy="2103120"/>
              <a:chOff x="0" y="0"/>
              <a:chExt cx="4572000" cy="210312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572000" cy="2103120"/>
              </a:xfrm>
              <a:custGeom>
                <a:avLst/>
                <a:gdLst/>
                <a:ahLst/>
                <a:cxnLst/>
                <a:rect r="r" b="b" t="t" l="l"/>
                <a:pathLst>
                  <a:path h="2103120" w="457200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4425696" y="0"/>
                    </a:lnTo>
                    <a:cubicBezTo>
                      <a:pt x="4506468" y="0"/>
                      <a:pt x="4572000" y="65532"/>
                      <a:pt x="4572000" y="146304"/>
                    </a:cubicBezTo>
                    <a:lnTo>
                      <a:pt x="4572000" y="1956816"/>
                    </a:lnTo>
                    <a:cubicBezTo>
                      <a:pt x="4572000" y="2037588"/>
                      <a:pt x="4506468" y="2103120"/>
                      <a:pt x="4425696" y="2103120"/>
                    </a:cubicBezTo>
                    <a:lnTo>
                      <a:pt x="146304" y="2103120"/>
                    </a:lnTo>
                    <a:cubicBezTo>
                      <a:pt x="65532" y="2103120"/>
                      <a:pt x="0" y="2037588"/>
                      <a:pt x="0" y="1956816"/>
                    </a:cubicBezTo>
                    <a:close/>
                  </a:path>
                </a:pathLst>
              </a:custGeom>
              <a:solidFill>
                <a:srgbClr val="0E1943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7007840" y="914400"/>
              <a:ext cx="4572000" cy="1005840"/>
              <a:chOff x="0" y="0"/>
              <a:chExt cx="4572000" cy="100584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57200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38568" r="0" b="-38568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4572000" cy="10439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76"/>
                  </a:lnSpc>
                </a:pPr>
                <a:r>
                  <a:rPr lang="en-US" sz="1649">
                    <a:solidFill>
                      <a:srgbClr val="FFFFFF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Fulfills scheduled bookings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7007840" y="4572000"/>
              <a:ext cx="4572000" cy="2103120"/>
              <a:chOff x="0" y="0"/>
              <a:chExt cx="4572000" cy="210312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572000" cy="2103120"/>
              </a:xfrm>
              <a:custGeom>
                <a:avLst/>
                <a:gdLst/>
                <a:ahLst/>
                <a:cxnLst/>
                <a:rect r="r" b="b" t="t" l="l"/>
                <a:pathLst>
                  <a:path h="2103120" w="457200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4425696" y="0"/>
                    </a:lnTo>
                    <a:cubicBezTo>
                      <a:pt x="4506468" y="0"/>
                      <a:pt x="4572000" y="65532"/>
                      <a:pt x="4572000" y="146304"/>
                    </a:cubicBezTo>
                    <a:lnTo>
                      <a:pt x="4572000" y="1956816"/>
                    </a:lnTo>
                    <a:cubicBezTo>
                      <a:pt x="4572000" y="2037588"/>
                      <a:pt x="4506468" y="2103120"/>
                      <a:pt x="4425696" y="2103120"/>
                    </a:cubicBezTo>
                    <a:lnTo>
                      <a:pt x="146304" y="2103120"/>
                    </a:lnTo>
                    <a:cubicBezTo>
                      <a:pt x="65532" y="2103120"/>
                      <a:pt x="0" y="2037588"/>
                      <a:pt x="0" y="1956816"/>
                    </a:cubicBezTo>
                    <a:close/>
                  </a:path>
                </a:pathLst>
              </a:custGeom>
              <a:solidFill>
                <a:srgbClr val="1D348A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7007840" y="4828032"/>
              <a:ext cx="4572000" cy="621792"/>
              <a:chOff x="0" y="0"/>
              <a:chExt cx="4572000" cy="62179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572000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621792"/>
                    </a:lnTo>
                    <a:lnTo>
                      <a:pt x="0" y="621792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93272" r="0" b="-93272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"/>
                <a:ext cx="4572000" cy="6313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89"/>
                  </a:lnSpc>
                </a:pPr>
                <a:r>
                  <a:rPr lang="en-US" sz="2324">
                    <a:solidFill>
                      <a:srgbClr val="FFFFFF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PAYMENT</a:t>
                </a:r>
              </a:p>
            </p:txBody>
          </p:sp>
        </p:grpSp>
        <p:sp>
          <p:nvSpPr>
            <p:cNvPr name="AutoShape 43" id="43"/>
            <p:cNvSpPr/>
            <p:nvPr/>
          </p:nvSpPr>
          <p:spPr>
            <a:xfrm rot="43860">
              <a:off x="4546435" y="3324860"/>
              <a:ext cx="3983050" cy="0"/>
            </a:xfrm>
            <a:prstGeom prst="line">
              <a:avLst/>
            </a:prstGeom>
            <a:ln cap="rnd" w="25400">
              <a:solidFill>
                <a:srgbClr val="0E194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rot="-1384499">
              <a:off x="12877343" y="1861820"/>
              <a:ext cx="4329074" cy="0"/>
            </a:xfrm>
            <a:prstGeom prst="line">
              <a:avLst/>
            </a:prstGeom>
            <a:ln cap="rnd" w="25400">
              <a:solidFill>
                <a:srgbClr val="0E194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rot="1384500">
              <a:off x="12877343" y="4787900"/>
              <a:ext cx="4329074" cy="0"/>
            </a:xfrm>
            <a:prstGeom prst="line">
              <a:avLst/>
            </a:prstGeom>
            <a:ln cap="rnd" w="25400">
              <a:solidFill>
                <a:srgbClr val="0E1943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6" id="46"/>
            <p:cNvGrpSpPr/>
            <p:nvPr/>
          </p:nvGrpSpPr>
          <p:grpSpPr>
            <a:xfrm rot="0">
              <a:off x="4742180" y="2730500"/>
              <a:ext cx="1579880" cy="647192"/>
              <a:chOff x="0" y="0"/>
              <a:chExt cx="1579880" cy="64719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579880" cy="647192"/>
              </a:xfrm>
              <a:custGeom>
                <a:avLst/>
                <a:gdLst/>
                <a:ahLst/>
                <a:cxnLst/>
                <a:rect r="r" b="b" t="t" l="l"/>
                <a:pathLst>
                  <a:path h="647192" w="1579880">
                    <a:moveTo>
                      <a:pt x="0" y="114173"/>
                    </a:moveTo>
                    <a:cubicBezTo>
                      <a:pt x="0" y="51181"/>
                      <a:pt x="51181" y="0"/>
                      <a:pt x="114173" y="0"/>
                    </a:cubicBezTo>
                    <a:lnTo>
                      <a:pt x="1465707" y="0"/>
                    </a:lnTo>
                    <a:cubicBezTo>
                      <a:pt x="1528826" y="0"/>
                      <a:pt x="1579880" y="51181"/>
                      <a:pt x="1579880" y="114173"/>
                    </a:cubicBezTo>
                    <a:lnTo>
                      <a:pt x="1579880" y="533019"/>
                    </a:lnTo>
                    <a:cubicBezTo>
                      <a:pt x="1579880" y="596138"/>
                      <a:pt x="1528699" y="647192"/>
                      <a:pt x="1465707" y="647192"/>
                    </a:cubicBezTo>
                    <a:lnTo>
                      <a:pt x="114173" y="647192"/>
                    </a:lnTo>
                    <a:cubicBezTo>
                      <a:pt x="51181" y="647192"/>
                      <a:pt x="0" y="596011"/>
                      <a:pt x="0" y="5330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0B4C9"/>
                </a:solidFill>
                <a:prstDash val="solid"/>
                <a:miter/>
              </a:ln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4754880" y="2743200"/>
              <a:ext cx="1554480" cy="621792"/>
              <a:chOff x="0" y="0"/>
              <a:chExt cx="1554480" cy="62179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554480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1554480">
                    <a:moveTo>
                      <a:pt x="0" y="0"/>
                    </a:moveTo>
                    <a:lnTo>
                      <a:pt x="1554480" y="0"/>
                    </a:lnTo>
                    <a:lnTo>
                      <a:pt x="1554480" y="621792"/>
                    </a:lnTo>
                    <a:lnTo>
                      <a:pt x="0" y="621792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1321" t="0" r="-1321" b="0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554480" cy="6313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49"/>
                  </a:lnSpc>
                </a:pPr>
                <a:r>
                  <a:rPr lang="en-US" sz="1874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1 : M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3977620" y="1176020"/>
              <a:ext cx="1579880" cy="647192"/>
              <a:chOff x="0" y="0"/>
              <a:chExt cx="1579880" cy="647192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579880" cy="647192"/>
              </a:xfrm>
              <a:custGeom>
                <a:avLst/>
                <a:gdLst/>
                <a:ahLst/>
                <a:cxnLst/>
                <a:rect r="r" b="b" t="t" l="l"/>
                <a:pathLst>
                  <a:path h="647192" w="1579880">
                    <a:moveTo>
                      <a:pt x="0" y="114173"/>
                    </a:moveTo>
                    <a:cubicBezTo>
                      <a:pt x="0" y="51181"/>
                      <a:pt x="51181" y="0"/>
                      <a:pt x="114173" y="0"/>
                    </a:cubicBezTo>
                    <a:lnTo>
                      <a:pt x="1465707" y="0"/>
                    </a:lnTo>
                    <a:cubicBezTo>
                      <a:pt x="1528826" y="0"/>
                      <a:pt x="1579880" y="51181"/>
                      <a:pt x="1579880" y="114173"/>
                    </a:cubicBezTo>
                    <a:lnTo>
                      <a:pt x="1579880" y="533019"/>
                    </a:lnTo>
                    <a:cubicBezTo>
                      <a:pt x="1579880" y="596138"/>
                      <a:pt x="1528699" y="647192"/>
                      <a:pt x="1465707" y="647192"/>
                    </a:cubicBezTo>
                    <a:lnTo>
                      <a:pt x="114173" y="647192"/>
                    </a:lnTo>
                    <a:cubicBezTo>
                      <a:pt x="51181" y="647192"/>
                      <a:pt x="0" y="596011"/>
                      <a:pt x="0" y="5330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0B4C9"/>
                </a:solidFill>
                <a:prstDash val="solid"/>
                <a:miter/>
              </a:ln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13990320" y="1188720"/>
              <a:ext cx="1554480" cy="621792"/>
              <a:chOff x="0" y="0"/>
              <a:chExt cx="1554480" cy="621792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554480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1554480">
                    <a:moveTo>
                      <a:pt x="0" y="0"/>
                    </a:moveTo>
                    <a:lnTo>
                      <a:pt x="1554480" y="0"/>
                    </a:lnTo>
                    <a:lnTo>
                      <a:pt x="1554480" y="621792"/>
                    </a:lnTo>
                    <a:lnTo>
                      <a:pt x="0" y="621792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1321" t="0" r="-1321" b="0"/>
                </a:stretch>
              </a:blip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9525"/>
                <a:ext cx="1554480" cy="6313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49"/>
                  </a:lnSpc>
                </a:pPr>
                <a:r>
                  <a:rPr lang="en-US" sz="1874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M : 1</a:t>
                </a: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13977620" y="4559300"/>
              <a:ext cx="1579880" cy="647192"/>
              <a:chOff x="0" y="0"/>
              <a:chExt cx="1579880" cy="647192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579880" cy="647192"/>
              </a:xfrm>
              <a:custGeom>
                <a:avLst/>
                <a:gdLst/>
                <a:ahLst/>
                <a:cxnLst/>
                <a:rect r="r" b="b" t="t" l="l"/>
                <a:pathLst>
                  <a:path h="647192" w="1579880">
                    <a:moveTo>
                      <a:pt x="0" y="114173"/>
                    </a:moveTo>
                    <a:cubicBezTo>
                      <a:pt x="0" y="51181"/>
                      <a:pt x="51181" y="0"/>
                      <a:pt x="114173" y="0"/>
                    </a:cubicBezTo>
                    <a:lnTo>
                      <a:pt x="1465707" y="0"/>
                    </a:lnTo>
                    <a:cubicBezTo>
                      <a:pt x="1528826" y="0"/>
                      <a:pt x="1579880" y="51181"/>
                      <a:pt x="1579880" y="114173"/>
                    </a:cubicBezTo>
                    <a:lnTo>
                      <a:pt x="1579880" y="533019"/>
                    </a:lnTo>
                    <a:cubicBezTo>
                      <a:pt x="1579880" y="596138"/>
                      <a:pt x="1528699" y="647192"/>
                      <a:pt x="1465707" y="647192"/>
                    </a:cubicBezTo>
                    <a:lnTo>
                      <a:pt x="114173" y="647192"/>
                    </a:lnTo>
                    <a:cubicBezTo>
                      <a:pt x="51181" y="647192"/>
                      <a:pt x="0" y="596011"/>
                      <a:pt x="0" y="5330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0B4C9"/>
                </a:solidFill>
                <a:prstDash val="solid"/>
                <a:miter/>
              </a:ln>
            </p:spPr>
          </p:sp>
        </p:grpSp>
        <p:grpSp>
          <p:nvGrpSpPr>
            <p:cNvPr name="Group 58" id="58"/>
            <p:cNvGrpSpPr/>
            <p:nvPr/>
          </p:nvGrpSpPr>
          <p:grpSpPr>
            <a:xfrm rot="0">
              <a:off x="13990320" y="4572000"/>
              <a:ext cx="1554480" cy="621792"/>
              <a:chOff x="0" y="0"/>
              <a:chExt cx="1554480" cy="621792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554480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1554480">
                    <a:moveTo>
                      <a:pt x="0" y="0"/>
                    </a:moveTo>
                    <a:lnTo>
                      <a:pt x="1554480" y="0"/>
                    </a:lnTo>
                    <a:lnTo>
                      <a:pt x="1554480" y="621792"/>
                    </a:lnTo>
                    <a:lnTo>
                      <a:pt x="0" y="621792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1321" t="0" r="-1321" b="0"/>
                </a:stretch>
              </a:blip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9525"/>
                <a:ext cx="1554480" cy="6313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49"/>
                  </a:lnSpc>
                </a:pPr>
                <a:r>
                  <a:rPr lang="en-US" sz="1874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1 : 1</a:t>
                </a: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0">
            <a:off x="1028700" y="5966460"/>
            <a:ext cx="5692140" cy="2125980"/>
            <a:chOff x="0" y="0"/>
            <a:chExt cx="7589520" cy="283464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7589520" cy="2834640"/>
              <a:chOff x="0" y="0"/>
              <a:chExt cx="7589520" cy="283464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7589520" cy="2834640"/>
              </a:xfrm>
              <a:custGeom>
                <a:avLst/>
                <a:gdLst/>
                <a:ahLst/>
                <a:cxnLst/>
                <a:rect r="r" b="b" t="t" l="l"/>
                <a:pathLst>
                  <a:path h="2834640" w="758952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7443216" y="0"/>
                    </a:lnTo>
                    <a:cubicBezTo>
                      <a:pt x="7523988" y="0"/>
                      <a:pt x="7589520" y="65532"/>
                      <a:pt x="7589520" y="146304"/>
                    </a:cubicBezTo>
                    <a:lnTo>
                      <a:pt x="7589520" y="2688336"/>
                    </a:lnTo>
                    <a:cubicBezTo>
                      <a:pt x="7589520" y="2769108"/>
                      <a:pt x="7523988" y="2834640"/>
                      <a:pt x="7443216" y="2834640"/>
                    </a:cubicBezTo>
                    <a:lnTo>
                      <a:pt x="146304" y="2834640"/>
                    </a:lnTo>
                    <a:cubicBezTo>
                      <a:pt x="65532" y="2834640"/>
                      <a:pt x="0" y="2769108"/>
                      <a:pt x="0" y="2688336"/>
                    </a:cubicBezTo>
                    <a:close/>
                  </a:path>
                </a:pathLst>
              </a:custGeom>
              <a:solidFill>
                <a:srgbClr val="ECECEC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420624" y="365760"/>
              <a:ext cx="1005840" cy="1005840"/>
              <a:chOff x="0" y="0"/>
              <a:chExt cx="1005840" cy="100584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100584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1005840">
                    <a:moveTo>
                      <a:pt x="0" y="502920"/>
                    </a:moveTo>
                    <a:cubicBezTo>
                      <a:pt x="0" y="225171"/>
                      <a:pt x="225171" y="0"/>
                      <a:pt x="502920" y="0"/>
                    </a:cubicBezTo>
                    <a:cubicBezTo>
                      <a:pt x="780669" y="0"/>
                      <a:pt x="1005840" y="225171"/>
                      <a:pt x="1005840" y="502920"/>
                    </a:cubicBezTo>
                    <a:cubicBezTo>
                      <a:pt x="1005840" y="780669"/>
                      <a:pt x="780669" y="1005840"/>
                      <a:pt x="502920" y="1005840"/>
                    </a:cubicBezTo>
                    <a:cubicBezTo>
                      <a:pt x="225171" y="1005840"/>
                      <a:pt x="0" y="780669"/>
                      <a:pt x="0" y="502920"/>
                    </a:cubicBezTo>
                    <a:close/>
                  </a:path>
                </a:pathLst>
              </a:custGeom>
              <a:solidFill>
                <a:srgbClr val="0E1943"/>
              </a:solidFill>
            </p:spPr>
          </p:sp>
        </p:grpSp>
        <p:grpSp>
          <p:nvGrpSpPr>
            <p:cNvPr name="Group 66" id="66"/>
            <p:cNvGrpSpPr/>
            <p:nvPr/>
          </p:nvGrpSpPr>
          <p:grpSpPr>
            <a:xfrm rot="0">
              <a:off x="682142" y="627278"/>
              <a:ext cx="482803" cy="482803"/>
              <a:chOff x="0" y="0"/>
              <a:chExt cx="482803" cy="482803"/>
            </a:xfrm>
          </p:grpSpPr>
          <p:sp>
            <p:nvSpPr>
              <p:cNvPr name="Freeform 67" id="67" descr="icons/userTie_FFFFFF.png"/>
              <p:cNvSpPr/>
              <p:nvPr/>
            </p:nvSpPr>
            <p:spPr>
              <a:xfrm flipH="false" flipV="false" rot="0">
                <a:off x="0" y="0"/>
                <a:ext cx="482854" cy="482854"/>
              </a:xfrm>
              <a:custGeom>
                <a:avLst/>
                <a:gdLst/>
                <a:ahLst/>
                <a:cxnLst/>
                <a:rect r="r" b="b" t="t" l="l"/>
                <a:pathLst>
                  <a:path h="482854" w="482854">
                    <a:moveTo>
                      <a:pt x="0" y="0"/>
                    </a:moveTo>
                    <a:lnTo>
                      <a:pt x="482854" y="0"/>
                    </a:lnTo>
                    <a:lnTo>
                      <a:pt x="482854" y="482854"/>
                    </a:lnTo>
                    <a:lnTo>
                      <a:pt x="0" y="48285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10" b="10"/>
                </a:stretch>
              </a:blipFill>
            </p:spPr>
          </p:sp>
        </p:grpSp>
        <p:grpSp>
          <p:nvGrpSpPr>
            <p:cNvPr name="Group 68" id="68"/>
            <p:cNvGrpSpPr/>
            <p:nvPr/>
          </p:nvGrpSpPr>
          <p:grpSpPr>
            <a:xfrm rot="0">
              <a:off x="1700784" y="365760"/>
              <a:ext cx="5486400" cy="575631"/>
              <a:chOff x="0" y="0"/>
              <a:chExt cx="5486400" cy="575631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5486400" cy="575631"/>
              </a:xfrm>
              <a:custGeom>
                <a:avLst/>
                <a:gdLst/>
                <a:ahLst/>
                <a:cxnLst/>
                <a:rect r="r" b="b" t="t" l="l"/>
                <a:pathLst>
                  <a:path h="575631" w="5486400">
                    <a:moveTo>
                      <a:pt x="0" y="0"/>
                    </a:moveTo>
                    <a:lnTo>
                      <a:pt x="5486400" y="0"/>
                    </a:lnTo>
                    <a:lnTo>
                      <a:pt x="5486400" y="575631"/>
                    </a:lnTo>
                    <a:lnTo>
                      <a:pt x="0" y="575631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138058" r="0" b="-133369"/>
                </a:stretch>
              </a:blip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9525"/>
                <a:ext cx="5486400" cy="58515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3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DRIVER</a:t>
                </a: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700784" y="969264"/>
              <a:ext cx="5577840" cy="1645920"/>
              <a:chOff x="0" y="0"/>
              <a:chExt cx="5577840" cy="164592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557784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5577840">
                    <a:moveTo>
                      <a:pt x="0" y="0"/>
                    </a:moveTo>
                    <a:lnTo>
                      <a:pt x="5577840" y="0"/>
                    </a:lnTo>
                    <a:lnTo>
                      <a:pt x="5577840" y="1645920"/>
                    </a:lnTo>
                    <a:lnTo>
                      <a:pt x="0" y="164592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16032" r="0" b="-16032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5577840" cy="16840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84"/>
                  </a:lnSpc>
                </a:pPr>
                <a:r>
                  <a:rPr lang="en-US" sz="1794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Assigned operationally to tankers during dispatch; scheduling logic sits in the application layer.</a:t>
                </a:r>
              </a:p>
            </p:txBody>
          </p:sp>
        </p:grpSp>
      </p:grpSp>
      <p:grpSp>
        <p:nvGrpSpPr>
          <p:cNvPr name="Group 74" id="74"/>
          <p:cNvGrpSpPr/>
          <p:nvPr/>
        </p:nvGrpSpPr>
        <p:grpSpPr>
          <a:xfrm rot="0">
            <a:off x="13784580" y="2426466"/>
            <a:ext cx="3429000" cy="466344"/>
            <a:chOff x="0" y="0"/>
            <a:chExt cx="4572000" cy="6217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72000" cy="621792"/>
            </a:xfrm>
            <a:custGeom>
              <a:avLst/>
              <a:gdLst/>
              <a:ahLst/>
              <a:cxnLst/>
              <a:rect r="r" b="b" t="t" l="l"/>
              <a:pathLst>
                <a:path h="621792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45720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TANKER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830300" y="6275070"/>
            <a:ext cx="3429000" cy="754380"/>
            <a:chOff x="0" y="0"/>
            <a:chExt cx="4572000" cy="10058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572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5720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0"/>
                </a:lnSpc>
              </a:pPr>
              <a:r>
                <a:rPr lang="en-US" sz="1949">
                  <a:solidFill>
                    <a:srgbClr val="FFFFFF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One receipt per booking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918222" y="830279"/>
            <a:ext cx="2341078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648931" y="724819"/>
            <a:ext cx="879621" cy="909354"/>
          </a:xfrm>
          <a:custGeom>
            <a:avLst/>
            <a:gdLst/>
            <a:ahLst/>
            <a:cxnLst/>
            <a:rect r="r" b="b" t="t" l="l"/>
            <a:pathLst>
              <a:path h="909354" w="879621">
                <a:moveTo>
                  <a:pt x="0" y="0"/>
                </a:moveTo>
                <a:lnTo>
                  <a:pt x="879621" y="0"/>
                </a:lnTo>
                <a:lnTo>
                  <a:pt x="879621" y="909354"/>
                </a:lnTo>
                <a:lnTo>
                  <a:pt x="0" y="9093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68973" y="681224"/>
            <a:ext cx="16596360" cy="1223237"/>
            <a:chOff x="0" y="0"/>
            <a:chExt cx="22128480" cy="16309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28480" cy="1630982"/>
            </a:xfrm>
            <a:custGeom>
              <a:avLst/>
              <a:gdLst/>
              <a:ahLst/>
              <a:cxnLst/>
              <a:rect r="r" b="b" t="t" l="l"/>
              <a:pathLst>
                <a:path h="163098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30982"/>
                  </a:lnTo>
                  <a:lnTo>
                    <a:pt x="0" y="163098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119" r="0" b="-20360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2128480" cy="16309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-425">
                  <a:solidFill>
                    <a:srgbClr val="1D348A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Ensuring Data Integrity and Concurrency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9448" y="2770247"/>
            <a:ext cx="5299710" cy="6191250"/>
            <a:chOff x="0" y="0"/>
            <a:chExt cx="7066280" cy="825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66280" cy="8255000"/>
            </a:xfrm>
            <a:custGeom>
              <a:avLst/>
              <a:gdLst/>
              <a:ahLst/>
              <a:cxnLst/>
              <a:rect r="r" b="b" t="t" l="l"/>
              <a:pathLst>
                <a:path h="8255000" w="70662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882765" y="0"/>
                  </a:lnTo>
                  <a:cubicBezTo>
                    <a:pt x="6984111" y="0"/>
                    <a:pt x="7066280" y="82169"/>
                    <a:pt x="7066280" y="183515"/>
                  </a:cubicBezTo>
                  <a:lnTo>
                    <a:pt x="7066280" y="8071485"/>
                  </a:lnTo>
                  <a:cubicBezTo>
                    <a:pt x="7066280" y="8172831"/>
                    <a:pt x="6984111" y="8255000"/>
                    <a:pt x="6882765" y="8255000"/>
                  </a:cubicBezTo>
                  <a:lnTo>
                    <a:pt x="183515" y="8255000"/>
                  </a:lnTo>
                  <a:cubicBezTo>
                    <a:pt x="82169" y="8255000"/>
                    <a:pt x="0" y="8172831"/>
                    <a:pt x="0" y="8071485"/>
                  </a:cubicBezTo>
                  <a:close/>
                </a:path>
              </a:pathLst>
            </a:custGeom>
            <a:solidFill>
              <a:srgbClr val="ECECEC"/>
            </a:solidFill>
            <a:ln w="19050" cap="sq">
              <a:solidFill>
                <a:srgbClr val="0B7A9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757793" y="3259832"/>
            <a:ext cx="1303020" cy="1303020"/>
            <a:chOff x="0" y="0"/>
            <a:chExt cx="1737360" cy="1737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1D348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096578" y="3598617"/>
            <a:ext cx="625450" cy="625450"/>
            <a:chOff x="0" y="0"/>
            <a:chExt cx="833933" cy="833933"/>
          </a:xfrm>
        </p:grpSpPr>
        <p:sp>
          <p:nvSpPr>
            <p:cNvPr name="Freeform 24" id="24" descr="icons/bolt_FFFFFF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6" b="-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11873" y="4905752"/>
            <a:ext cx="4594860" cy="1028700"/>
            <a:chOff x="0" y="0"/>
            <a:chExt cx="612648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26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1264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ACID Properties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53021" y="6003032"/>
            <a:ext cx="4512564" cy="2743200"/>
            <a:chOff x="0" y="0"/>
            <a:chExt cx="6016752" cy="3657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16752" cy="3657600"/>
            </a:xfrm>
            <a:custGeom>
              <a:avLst/>
              <a:gdLst/>
              <a:ahLst/>
              <a:cxnLst/>
              <a:rect r="r" b="b" t="t" l="l"/>
              <a:pathLst>
                <a:path h="3657600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7996" t="0" r="-27996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016752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4"/>
                </a:lnSpc>
              </a:pPr>
              <a:r>
                <a:rPr lang="en-US" sz="2049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Guarantees isolation so two users cannot book the same tanker at the exact same second — every transaction completes fully or not at all.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79020" y="2770247"/>
            <a:ext cx="5299710" cy="6191250"/>
            <a:chOff x="0" y="0"/>
            <a:chExt cx="7066280" cy="8255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66280" cy="8255000"/>
            </a:xfrm>
            <a:custGeom>
              <a:avLst/>
              <a:gdLst/>
              <a:ahLst/>
              <a:cxnLst/>
              <a:rect r="r" b="b" t="t" l="l"/>
              <a:pathLst>
                <a:path h="8255000" w="70662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882765" y="0"/>
                  </a:lnTo>
                  <a:cubicBezTo>
                    <a:pt x="6984111" y="0"/>
                    <a:pt x="7066280" y="82169"/>
                    <a:pt x="7066280" y="183515"/>
                  </a:cubicBezTo>
                  <a:lnTo>
                    <a:pt x="7066280" y="8071485"/>
                  </a:lnTo>
                  <a:cubicBezTo>
                    <a:pt x="7066280" y="8172831"/>
                    <a:pt x="6984111" y="8255000"/>
                    <a:pt x="6882765" y="8255000"/>
                  </a:cubicBezTo>
                  <a:lnTo>
                    <a:pt x="183515" y="8255000"/>
                  </a:lnTo>
                  <a:cubicBezTo>
                    <a:pt x="82169" y="8255000"/>
                    <a:pt x="0" y="8172831"/>
                    <a:pt x="0" y="8071485"/>
                  </a:cubicBezTo>
                  <a:close/>
                </a:path>
              </a:pathLst>
            </a:custGeom>
            <a:solidFill>
              <a:srgbClr val="ECECEC"/>
            </a:solidFill>
            <a:ln w="19050" cap="sq">
              <a:solidFill>
                <a:srgbClr val="0B7A9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477365" y="3259832"/>
            <a:ext cx="1303020" cy="1303020"/>
            <a:chOff x="0" y="0"/>
            <a:chExt cx="1737360" cy="1737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1D348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816150" y="3598617"/>
            <a:ext cx="625450" cy="625450"/>
            <a:chOff x="0" y="0"/>
            <a:chExt cx="833933" cy="833933"/>
          </a:xfrm>
        </p:grpSpPr>
        <p:sp>
          <p:nvSpPr>
            <p:cNvPr name="Freeform 36" id="36" descr="icons/link_FFFFFF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6" b="-6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831445" y="4905752"/>
            <a:ext cx="4594860" cy="1028700"/>
            <a:chOff x="0" y="0"/>
            <a:chExt cx="6126480" cy="137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26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1264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Foreign Key Constraints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872593" y="6003032"/>
            <a:ext cx="4512564" cy="2743200"/>
            <a:chOff x="0" y="0"/>
            <a:chExt cx="6016752" cy="3657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16752" cy="3657600"/>
            </a:xfrm>
            <a:custGeom>
              <a:avLst/>
              <a:gdLst/>
              <a:ahLst/>
              <a:cxnLst/>
              <a:rect r="r" b="b" t="t" l="l"/>
              <a:pathLst>
                <a:path h="3657600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7996" t="0" r="-27996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6016752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4"/>
                </a:lnSpc>
              </a:pPr>
              <a:r>
                <a:rPr lang="en-US" sz="2049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Ensures a booking can never reference a non-existent customer or tanker, preserving referential integrity across tables.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198592" y="2770247"/>
            <a:ext cx="5299710" cy="6191250"/>
            <a:chOff x="0" y="0"/>
            <a:chExt cx="7066280" cy="8255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66280" cy="8255000"/>
            </a:xfrm>
            <a:custGeom>
              <a:avLst/>
              <a:gdLst/>
              <a:ahLst/>
              <a:cxnLst/>
              <a:rect r="r" b="b" t="t" l="l"/>
              <a:pathLst>
                <a:path h="8255000" w="70662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882765" y="0"/>
                  </a:lnTo>
                  <a:cubicBezTo>
                    <a:pt x="6984111" y="0"/>
                    <a:pt x="7066280" y="82169"/>
                    <a:pt x="7066280" y="183515"/>
                  </a:cubicBezTo>
                  <a:lnTo>
                    <a:pt x="7066280" y="8071485"/>
                  </a:lnTo>
                  <a:cubicBezTo>
                    <a:pt x="7066280" y="8172831"/>
                    <a:pt x="6984111" y="8255000"/>
                    <a:pt x="6882765" y="8255000"/>
                  </a:cubicBezTo>
                  <a:lnTo>
                    <a:pt x="183515" y="8255000"/>
                  </a:lnTo>
                  <a:cubicBezTo>
                    <a:pt x="82169" y="8255000"/>
                    <a:pt x="0" y="8172831"/>
                    <a:pt x="0" y="8071485"/>
                  </a:cubicBezTo>
                  <a:close/>
                </a:path>
              </a:pathLst>
            </a:custGeom>
            <a:solidFill>
              <a:srgbClr val="ECECEC"/>
            </a:solidFill>
            <a:ln w="19050" cap="sq">
              <a:solidFill>
                <a:srgbClr val="0B7A9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4196937" y="3259832"/>
            <a:ext cx="1303020" cy="1303020"/>
            <a:chOff x="0" y="0"/>
            <a:chExt cx="1737360" cy="1737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1D348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535722" y="3598617"/>
            <a:ext cx="625450" cy="625450"/>
            <a:chOff x="0" y="0"/>
            <a:chExt cx="833933" cy="833933"/>
          </a:xfrm>
        </p:grpSpPr>
        <p:sp>
          <p:nvSpPr>
            <p:cNvPr name="Freeform 48" id="48" descr="icons/gears_FFFFFF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6" b="-6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551017" y="4905752"/>
            <a:ext cx="4594860" cy="1028700"/>
            <a:chOff x="0" y="0"/>
            <a:chExt cx="6126480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126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1264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SQL Triggers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592165" y="6003032"/>
            <a:ext cx="4512564" cy="2743200"/>
            <a:chOff x="0" y="0"/>
            <a:chExt cx="6016752" cy="3657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16752" cy="3657600"/>
            </a:xfrm>
            <a:custGeom>
              <a:avLst/>
              <a:gdLst/>
              <a:ahLst/>
              <a:cxnLst/>
              <a:rect r="r" b="b" t="t" l="l"/>
              <a:pathLst>
                <a:path h="3657600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7996" t="0" r="-27996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6016752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4"/>
                </a:lnSpc>
              </a:pPr>
              <a:r>
                <a:rPr lang="en-US" sz="2049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Automates status updates — e.g., automatically shifting a Tanker's status to 'Dispatched' the moment a booking is confirmed.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8948" y="1090666"/>
            <a:ext cx="16289604" cy="201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5"/>
              </a:lnSpc>
            </a:pPr>
            <a:r>
              <a:rPr lang="en-US" sz="9201" spc="-699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Summary &amp; Proj</a:t>
            </a:r>
            <a:r>
              <a:rPr lang="en-US" b="true" sz="9201" spc="-699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ect Roadmap</a:t>
            </a:r>
          </a:p>
          <a:p>
            <a:pPr algn="l">
              <a:lnSpc>
                <a:spcPts val="7545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38948" y="3011431"/>
            <a:ext cx="15521459" cy="4264137"/>
            <a:chOff x="0" y="0"/>
            <a:chExt cx="20695278" cy="568551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64524" cy="1364524"/>
              <a:chOff x="0" y="0"/>
              <a:chExt cx="1097280" cy="10972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972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097280">
                    <a:moveTo>
                      <a:pt x="0" y="548640"/>
                    </a:moveTo>
                    <a:cubicBezTo>
                      <a:pt x="0" y="245618"/>
                      <a:pt x="245618" y="0"/>
                      <a:pt x="548640" y="0"/>
                    </a:cubicBezTo>
                    <a:cubicBezTo>
                      <a:pt x="851662" y="0"/>
                      <a:pt x="1097280" y="245618"/>
                      <a:pt x="1097280" y="548640"/>
                    </a:cubicBezTo>
                    <a:cubicBezTo>
                      <a:pt x="1097280" y="851662"/>
                      <a:pt x="851662" y="1097280"/>
                      <a:pt x="548640" y="1097280"/>
                    </a:cubicBezTo>
                    <a:cubicBezTo>
                      <a:pt x="245618" y="1097280"/>
                      <a:pt x="0" y="851662"/>
                      <a:pt x="0" y="548640"/>
                    </a:cubicBezTo>
                    <a:close/>
                  </a:path>
                </a:pathLst>
              </a:custGeom>
              <a:solidFill>
                <a:srgbClr val="0E1943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354776" y="354776"/>
              <a:ext cx="654971" cy="654971"/>
              <a:chOff x="0" y="0"/>
              <a:chExt cx="526694" cy="526694"/>
            </a:xfrm>
          </p:grpSpPr>
          <p:sp>
            <p:nvSpPr>
              <p:cNvPr name="Freeform 19" id="19" descr="icons/route_FFFFFF.png"/>
              <p:cNvSpPr/>
              <p:nvPr/>
            </p:nvSpPr>
            <p:spPr>
              <a:xfrm flipH="false" flipV="false" rot="0">
                <a:off x="0" y="0"/>
                <a:ext cx="526669" cy="526669"/>
              </a:xfrm>
              <a:custGeom>
                <a:avLst/>
                <a:gdLst/>
                <a:ahLst/>
                <a:cxnLst/>
                <a:rect r="r" b="b" t="t" l="l"/>
                <a:pathLst>
                  <a:path h="526669" w="526669">
                    <a:moveTo>
                      <a:pt x="0" y="0"/>
                    </a:moveTo>
                    <a:lnTo>
                      <a:pt x="526669" y="0"/>
                    </a:lnTo>
                    <a:lnTo>
                      <a:pt x="526669" y="526669"/>
                    </a:lnTo>
                    <a:lnTo>
                      <a:pt x="0" y="52666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4" b="-4"/>
                </a:stretch>
              </a:blip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819365" y="0"/>
              <a:ext cx="18875913" cy="1364524"/>
              <a:chOff x="0" y="0"/>
              <a:chExt cx="15179040" cy="10972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5179039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5179039">
                    <a:moveTo>
                      <a:pt x="0" y="0"/>
                    </a:moveTo>
                    <a:lnTo>
                      <a:pt x="15179039" y="0"/>
                    </a:lnTo>
                    <a:lnTo>
                      <a:pt x="15179039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19543" r="0" b="-219543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15179040" cy="11639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744"/>
                  </a:lnSpc>
                </a:pPr>
                <a:r>
                  <a:rPr lang="en-US" sz="260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Optimized routing and dispatch through structured, queryable data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2160496"/>
              <a:ext cx="1364524" cy="1364524"/>
              <a:chOff x="0" y="0"/>
              <a:chExt cx="1097280" cy="109728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972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097280">
                    <a:moveTo>
                      <a:pt x="0" y="548640"/>
                    </a:moveTo>
                    <a:cubicBezTo>
                      <a:pt x="0" y="245618"/>
                      <a:pt x="245618" y="0"/>
                      <a:pt x="548640" y="0"/>
                    </a:cubicBezTo>
                    <a:cubicBezTo>
                      <a:pt x="851662" y="0"/>
                      <a:pt x="1097280" y="245618"/>
                      <a:pt x="1097280" y="548640"/>
                    </a:cubicBezTo>
                    <a:cubicBezTo>
                      <a:pt x="1097280" y="851662"/>
                      <a:pt x="851662" y="1097280"/>
                      <a:pt x="548640" y="1097280"/>
                    </a:cubicBezTo>
                    <a:cubicBezTo>
                      <a:pt x="245618" y="1097280"/>
                      <a:pt x="0" y="851662"/>
                      <a:pt x="0" y="548640"/>
                    </a:cubicBezTo>
                    <a:close/>
                  </a:path>
                </a:pathLst>
              </a:custGeom>
              <a:solidFill>
                <a:srgbClr val="0E1943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354776" y="2515272"/>
              <a:ext cx="654971" cy="654971"/>
              <a:chOff x="0" y="0"/>
              <a:chExt cx="526694" cy="526694"/>
            </a:xfrm>
          </p:grpSpPr>
          <p:sp>
            <p:nvSpPr>
              <p:cNvPr name="Freeform 26" id="26" descr="icons/circleCheck_FFFFFF.png"/>
              <p:cNvSpPr/>
              <p:nvPr/>
            </p:nvSpPr>
            <p:spPr>
              <a:xfrm flipH="false" flipV="false" rot="0">
                <a:off x="0" y="0"/>
                <a:ext cx="526669" cy="526669"/>
              </a:xfrm>
              <a:custGeom>
                <a:avLst/>
                <a:gdLst/>
                <a:ahLst/>
                <a:cxnLst/>
                <a:rect r="r" b="b" t="t" l="l"/>
                <a:pathLst>
                  <a:path h="526669" w="526669">
                    <a:moveTo>
                      <a:pt x="0" y="0"/>
                    </a:moveTo>
                    <a:lnTo>
                      <a:pt x="526669" y="0"/>
                    </a:lnTo>
                    <a:lnTo>
                      <a:pt x="526669" y="526669"/>
                    </a:lnTo>
                    <a:lnTo>
                      <a:pt x="0" y="52666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-4" b="-4"/>
                </a:stretch>
              </a:blip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1819365" y="2160496"/>
              <a:ext cx="18875913" cy="1364524"/>
              <a:chOff x="0" y="0"/>
              <a:chExt cx="15179040" cy="109728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5179039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5179039">
                    <a:moveTo>
                      <a:pt x="0" y="0"/>
                    </a:moveTo>
                    <a:lnTo>
                      <a:pt x="15179039" y="0"/>
                    </a:lnTo>
                    <a:lnTo>
                      <a:pt x="15179039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19543" r="0" b="-219543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66675"/>
                <a:ext cx="15179040" cy="11639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744"/>
                  </a:lnSpc>
                </a:pPr>
                <a:r>
                  <a:rPr lang="en-US" sz="260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Increased transparency for customers and administrators alike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4320992"/>
              <a:ext cx="1364524" cy="1364524"/>
              <a:chOff x="0" y="0"/>
              <a:chExt cx="1097280" cy="10972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972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097280">
                    <a:moveTo>
                      <a:pt x="0" y="548640"/>
                    </a:moveTo>
                    <a:cubicBezTo>
                      <a:pt x="0" y="245618"/>
                      <a:pt x="245618" y="0"/>
                      <a:pt x="548640" y="0"/>
                    </a:cubicBezTo>
                    <a:cubicBezTo>
                      <a:pt x="851662" y="0"/>
                      <a:pt x="1097280" y="245618"/>
                      <a:pt x="1097280" y="548640"/>
                    </a:cubicBezTo>
                    <a:cubicBezTo>
                      <a:pt x="1097280" y="851662"/>
                      <a:pt x="851662" y="1097280"/>
                      <a:pt x="548640" y="1097280"/>
                    </a:cubicBezTo>
                    <a:cubicBezTo>
                      <a:pt x="245618" y="1097280"/>
                      <a:pt x="0" y="851662"/>
                      <a:pt x="0" y="548640"/>
                    </a:cubicBezTo>
                    <a:close/>
                  </a:path>
                </a:pathLst>
              </a:custGeom>
              <a:solidFill>
                <a:srgbClr val="0E1943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354776" y="4675768"/>
              <a:ext cx="654971" cy="654971"/>
              <a:chOff x="0" y="0"/>
              <a:chExt cx="526694" cy="526694"/>
            </a:xfrm>
          </p:grpSpPr>
          <p:sp>
            <p:nvSpPr>
              <p:cNvPr name="Freeform 33" id="33" descr="icons/shield_FFFFFF.png"/>
              <p:cNvSpPr/>
              <p:nvPr/>
            </p:nvSpPr>
            <p:spPr>
              <a:xfrm flipH="false" flipV="false" rot="0">
                <a:off x="0" y="0"/>
                <a:ext cx="526669" cy="526669"/>
              </a:xfrm>
              <a:custGeom>
                <a:avLst/>
                <a:gdLst/>
                <a:ahLst/>
                <a:cxnLst/>
                <a:rect r="r" b="b" t="t" l="l"/>
                <a:pathLst>
                  <a:path h="526669" w="526669">
                    <a:moveTo>
                      <a:pt x="0" y="0"/>
                    </a:moveTo>
                    <a:lnTo>
                      <a:pt x="526669" y="0"/>
                    </a:lnTo>
                    <a:lnTo>
                      <a:pt x="526669" y="526669"/>
                    </a:lnTo>
                    <a:lnTo>
                      <a:pt x="0" y="52666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-4" b="-4"/>
                </a:stretch>
              </a:blip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1819365" y="4320992"/>
              <a:ext cx="18875913" cy="1364524"/>
              <a:chOff x="0" y="0"/>
              <a:chExt cx="15179040" cy="109728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5179039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5179039">
                    <a:moveTo>
                      <a:pt x="0" y="0"/>
                    </a:moveTo>
                    <a:lnTo>
                      <a:pt x="15179039" y="0"/>
                    </a:lnTo>
                    <a:lnTo>
                      <a:pt x="15179039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19543" r="0" b="-219543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66675"/>
                <a:ext cx="15179040" cy="11639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744"/>
                  </a:lnSpc>
                </a:pPr>
                <a:r>
                  <a:rPr lang="en-US" sz="2600">
                    <a:solidFill>
                      <a:srgbClr val="000000"/>
                    </a:solidFill>
                    <a:latin typeface="TT Chocolates"/>
                    <a:ea typeface="TT Chocolates"/>
                    <a:cs typeface="TT Chocolates"/>
                    <a:sym typeface="TT Chocolates"/>
                  </a:rPr>
                  <a:t>Secured, auditable records for bookings, payments, and fleet status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06054" y="3920448"/>
            <a:ext cx="9895170" cy="595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139"/>
              </a:lnSpc>
            </a:pPr>
            <a:r>
              <a:rPr lang="en-US" b="true" sz="27000" spc="-205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Thank You!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769451" y="6504738"/>
            <a:ext cx="2048459" cy="2117703"/>
          </a:xfrm>
          <a:custGeom>
            <a:avLst/>
            <a:gdLst/>
            <a:ahLst/>
            <a:cxnLst/>
            <a:rect r="r" b="b" t="t" l="l"/>
            <a:pathLst>
              <a:path h="2117703" w="2048459">
                <a:moveTo>
                  <a:pt x="0" y="0"/>
                </a:moveTo>
                <a:lnTo>
                  <a:pt x="2048459" y="0"/>
                </a:lnTo>
                <a:lnTo>
                  <a:pt x="2048459" y="2117703"/>
                </a:lnTo>
                <a:lnTo>
                  <a:pt x="0" y="211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DAHTbhc0yKI</dc:identifier>
  <dcterms:modified xsi:type="dcterms:W3CDTF">2011-08-01T06:04:30Z</dcterms:modified>
  <cp:revision>1</cp:revision>
  <dc:title>Database Management System for Water Tanker Booking &amp; Delivery</dc:title>
</cp:coreProperties>
</file>